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90" r:id="rId13"/>
    <p:sldId id="291" r:id="rId14"/>
    <p:sldId id="292" r:id="rId15"/>
    <p:sldId id="288" r:id="rId16"/>
    <p:sldId id="289" r:id="rId17"/>
    <p:sldId id="294" r:id="rId18"/>
    <p:sldId id="293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Στυλ με θέμα 1 - Έμφαση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Χωρίς στυλ, χωρίς πλέγμα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Στυλ με θέμα 1 - Έμφαση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39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33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414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120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14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31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7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97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21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90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Τίτλος και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04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Εισαγωγικά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9612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08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Κάρτα ονόματος με φρά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7848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ή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1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1857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36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l-G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35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A643A83-A33F-A7FB-7506-38570EF25C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8640" y="3263688"/>
            <a:ext cx="6839928" cy="3808178"/>
          </a:xfrm>
        </p:spPr>
        <p:txBody>
          <a:bodyPr/>
          <a:lstStyle/>
          <a:p>
            <a:pPr algn="l" rtl="0">
              <a:buNone/>
            </a:pPr>
            <a:r>
              <a:rPr lang="el-GR" sz="3200" b="1">
                <a:solidFill>
                  <a:schemeClr val="accent4"/>
                </a:solidFill>
              </a:rPr>
              <a:t>ΗΛΕΚΤΡΟΝΙΚΑ ΥΨΗΛΩΝ ΤΑΧΥΤΗΤΩΝ </a:t>
            </a:r>
            <a:br>
              <a:rPr lang="en-US" sz="3200" b="1">
                <a:solidFill>
                  <a:schemeClr val="accent4"/>
                </a:solidFill>
              </a:rPr>
            </a:br>
            <a:br>
              <a:rPr lang="el-GR" sz="3200">
                <a:solidFill>
                  <a:schemeClr val="accent4"/>
                </a:solidFill>
              </a:rPr>
            </a:br>
            <a:r>
              <a:rPr lang="el-GR" sz="3200" b="1">
                <a:solidFill>
                  <a:schemeClr val="accent4"/>
                </a:solidFill>
              </a:rPr>
              <a:t>ΑΤΟΜΙΚΟ PROJECT</a:t>
            </a:r>
            <a:br>
              <a:rPr lang="en-US" sz="3200" b="1">
                <a:solidFill>
                  <a:schemeClr val="accent4"/>
                </a:solidFill>
              </a:rPr>
            </a:br>
            <a:br>
              <a:rPr lang="en-US" sz="3200" b="1">
                <a:solidFill>
                  <a:schemeClr val="accent4"/>
                </a:solidFill>
              </a:rPr>
            </a:br>
            <a:r>
              <a:rPr lang="el-GR" sz="3200" b="1">
                <a:solidFill>
                  <a:schemeClr val="accent4"/>
                </a:solidFill>
              </a:rPr>
              <a:t>ΥΛΟΠΟΙΗΣΗ </a:t>
            </a:r>
            <a:r>
              <a:rPr lang="en-US" sz="3200" b="1">
                <a:solidFill>
                  <a:schemeClr val="accent4"/>
                </a:solidFill>
              </a:rPr>
              <a:t>HIGH SPEED FLIP FLOP</a:t>
            </a:r>
            <a:br>
              <a:rPr lang="en-US" sz="2400" b="0">
                <a:solidFill>
                  <a:schemeClr val="accent4"/>
                </a:solidFill>
                <a:effectLst/>
              </a:rPr>
            </a:br>
            <a:br>
              <a:rPr lang="en-US" sz="2400" b="0">
                <a:solidFill>
                  <a:schemeClr val="accent4"/>
                </a:solidFill>
                <a:effectLst/>
              </a:rPr>
            </a:br>
            <a:br>
              <a:rPr lang="el-GR" sz="2400">
                <a:solidFill>
                  <a:schemeClr val="accent4"/>
                </a:solidFill>
              </a:rPr>
            </a:br>
            <a:br>
              <a:rPr lang="el-GR" sz="3200">
                <a:solidFill>
                  <a:schemeClr val="accent4"/>
                </a:solidFill>
              </a:rPr>
            </a:br>
            <a:br>
              <a:rPr lang="en-US" sz="4000">
                <a:solidFill>
                  <a:schemeClr val="accent4"/>
                </a:solidFill>
              </a:rPr>
            </a:br>
            <a:endParaRPr lang="el-GR" sz="4000">
              <a:solidFill>
                <a:schemeClr val="accent4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233E9CD-B51A-85F7-BA8D-703956E80A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640" y="5167777"/>
            <a:ext cx="7766936" cy="109689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εκπόνησης εργασίας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: </a:t>
            </a:r>
            <a:endParaRPr lang="el-GR" sz="3600">
              <a:solidFill>
                <a:srgbClr val="EC7016"/>
              </a:solidFill>
              <a:latin typeface="Trebuchet MS" panose="020B0603020202020204"/>
              <a:ea typeface="+mj-ea"/>
              <a:cs typeface="+mj-cs"/>
            </a:endParaRPr>
          </a:p>
          <a:p>
            <a:pPr algn="l"/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ΑΝΑΣΤΟΠΟΥΛΟΣ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 </a:t>
            </a:r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ΑΠΟΛΛΩΝ ΑΛΕΞΑΝΔΡΟΣ 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 </a:t>
            </a:r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ΑΜ</a:t>
            </a:r>
            <a:r>
              <a:rPr lang="en-US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:1092621</a:t>
            </a:r>
            <a:r>
              <a:rPr lang="el-GR" sz="3600">
                <a:solidFill>
                  <a:srgbClr val="EC7016"/>
                </a:solidFill>
                <a:latin typeface="Trebuchet MS" panose="020B0603020202020204"/>
                <a:ea typeface="+mj-ea"/>
                <a:cs typeface="+mj-cs"/>
              </a:rPr>
              <a:t> </a:t>
            </a:r>
            <a:endParaRPr lang="el-GR" sz="3600"/>
          </a:p>
        </p:txBody>
      </p:sp>
    </p:spTree>
    <p:extLst>
      <p:ext uri="{BB962C8B-B14F-4D97-AF65-F5344CB8AC3E}">
        <p14:creationId xmlns:p14="http://schemas.microsoft.com/office/powerpoint/2010/main" val="15627393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7B16594-9C0C-C22D-98F8-37B981D6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 ΕΙΣΑΓΩΓΗ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5BA626F-D65B-BA0C-9C40-76E899A33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3869"/>
            <a:ext cx="9246954" cy="4514531"/>
          </a:xfrm>
        </p:spPr>
        <p:txBody>
          <a:bodyPr>
            <a:normAutofit lnSpcReduction="1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Τα </a:t>
            </a:r>
            <a:r>
              <a:rPr lang="el-GR" b="1">
                <a:solidFill>
                  <a:schemeClr val="accent4"/>
                </a:solidFill>
              </a:rPr>
              <a:t>Flip-Flops</a:t>
            </a:r>
            <a:r>
              <a:rPr lang="el-GR">
                <a:solidFill>
                  <a:schemeClr val="accent4"/>
                </a:solidFill>
              </a:rPr>
              <a:t> αποτελούν βασικά στοιχεία αποθήκευσης στα σύγχρονα ψηφιακά κυκλώματα και επηρεάζουν άμεσα τη μέγιστη συχνότητα λειτουργίας του συστήματος.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απόδοσή τους καθορίζεται κυρίως από το </a:t>
            </a:r>
            <a:r>
              <a:rPr lang="el-GR" b="1">
                <a:solidFill>
                  <a:schemeClr val="accent4"/>
                </a:solidFill>
              </a:rPr>
              <a:t>Clock-to-Q delay</a:t>
            </a:r>
            <a:r>
              <a:rPr lang="el-GR">
                <a:solidFill>
                  <a:schemeClr val="accent4"/>
                </a:solidFill>
              </a:rPr>
              <a:t>, τις απαιτήσεις </a:t>
            </a:r>
            <a:r>
              <a:rPr lang="el-GR" b="1">
                <a:solidFill>
                  <a:schemeClr val="accent4"/>
                </a:solidFill>
              </a:rPr>
              <a:t>setup/hold time</a:t>
            </a:r>
            <a:r>
              <a:rPr lang="el-GR">
                <a:solidFill>
                  <a:schemeClr val="accent4"/>
                </a:solidFill>
              </a:rPr>
              <a:t> και την </a:t>
            </a:r>
            <a:r>
              <a:rPr lang="el-GR" b="1">
                <a:solidFill>
                  <a:schemeClr val="accent4"/>
                </a:solidFill>
              </a:rPr>
              <a:t>κατανάλωση ισχύος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Σε εφαρμογές υψηλής ταχύτητας απαιτείται ελαχιστοποίηση της καθυστέρησης χωρίς υπερβολική αύξηση της κατανάλωσης.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Στην εργασία σχεδιάζεται και βελτιστοποιείται ένα </a:t>
            </a:r>
            <a:r>
              <a:rPr lang="el-GR" b="1">
                <a:solidFill>
                  <a:schemeClr val="accent4"/>
                </a:solidFill>
              </a:rPr>
              <a:t>High-Speed D Flip-Flop σε CMOS τεχνολογία 0.25 μm</a:t>
            </a:r>
            <a:r>
              <a:rPr lang="el-GR">
                <a:solidFill>
                  <a:schemeClr val="accent4"/>
                </a:solidFill>
              </a:rPr>
              <a:t>, με προσομοίωση στο </a:t>
            </a:r>
            <a:r>
              <a:rPr lang="el-GR" b="1">
                <a:solidFill>
                  <a:schemeClr val="accent4"/>
                </a:solidFill>
              </a:rPr>
              <a:t>LTspice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αξιολόγηση βασίζεται κυρίως στις μετρικές: </a:t>
            </a:r>
            <a:r>
              <a:rPr lang="el-GR" b="1">
                <a:solidFill>
                  <a:schemeClr val="accent4"/>
                </a:solidFill>
              </a:rPr>
              <a:t>Clock-to-Q delay (tCQ)</a:t>
            </a:r>
            <a:r>
              <a:rPr lang="el-GR">
                <a:solidFill>
                  <a:schemeClr val="accent4"/>
                </a:solidFill>
              </a:rPr>
              <a:t>, </a:t>
            </a:r>
            <a:r>
              <a:rPr lang="el-GR" b="1">
                <a:solidFill>
                  <a:schemeClr val="accent4"/>
                </a:solidFill>
              </a:rPr>
              <a:t>Average Power (Pavg), Power-Delay Product (PDP = Pavg × tCQ)</a:t>
            </a:r>
          </a:p>
          <a:p>
            <a:endParaRPr lang="el-GR"/>
          </a:p>
          <a:p>
            <a:r>
              <a:rPr lang="el-GR" b="1">
                <a:solidFill>
                  <a:schemeClr val="accent4"/>
                </a:solidFill>
              </a:rPr>
              <a:t>Στόχος</a:t>
            </a:r>
            <a:r>
              <a:rPr lang="el-GR">
                <a:solidFill>
                  <a:schemeClr val="accent4"/>
                </a:solidFill>
              </a:rPr>
              <a:t>: επίτευξη του καλύτερου δυνατού συμβιβασμού μεταξύ ταχύτητας και κατανάλωσης ισχύος.</a:t>
            </a:r>
          </a:p>
        </p:txBody>
      </p:sp>
    </p:spTree>
    <p:extLst>
      <p:ext uri="{BB962C8B-B14F-4D97-AF65-F5344CB8AC3E}">
        <p14:creationId xmlns:p14="http://schemas.microsoft.com/office/powerpoint/2010/main" val="1962703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8CD6E6-C20C-D465-058B-6B6928DFC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Επιλογή Αρχιτεκτονικής – Γιατί TSPC;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94EE83C-827C-AE1F-F13F-ECD607303B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31405"/>
            <a:ext cx="8596668" cy="4508435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Για high-speed εφαρμογές εξετάζονται συνήθως τοπολογίες όπως </a:t>
            </a:r>
            <a:r>
              <a:rPr lang="el-GR" b="1">
                <a:solidFill>
                  <a:schemeClr val="accent4"/>
                </a:solidFill>
              </a:rPr>
              <a:t>Transmission-Gate FF, C²MOS, TSPC και Sense-Amplifier FF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</a:t>
            </a:r>
            <a:r>
              <a:rPr lang="el-GR" b="1">
                <a:solidFill>
                  <a:schemeClr val="accent4"/>
                </a:solidFill>
              </a:rPr>
              <a:t>TSPC (True Single-Phase Clock)</a:t>
            </a:r>
            <a:r>
              <a:rPr lang="el-GR">
                <a:solidFill>
                  <a:schemeClr val="accent4"/>
                </a:solidFill>
              </a:rPr>
              <a:t> χρησιμοποιεί μόνο μία φάση ρολογιού, μειώνοντας την πολυπλοκότητα του clocking δικτύου.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δυναμική λειτουργία του και ο μικρός αριθμός σταδίων στη διαδρομή CLK → Q προσφέρουν υψηλό δυναμικό ταχύτητας.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τοπολογία είναι κατάλληλη για </a:t>
            </a:r>
            <a:r>
              <a:rPr lang="el-GR" b="1">
                <a:solidFill>
                  <a:schemeClr val="accent4"/>
                </a:solidFill>
              </a:rPr>
              <a:t>transistor sizing optimization</a:t>
            </a:r>
            <a:r>
              <a:rPr lang="el-GR">
                <a:solidFill>
                  <a:schemeClr val="accent4"/>
                </a:solidFill>
              </a:rPr>
              <a:t>, ώστε να βελτιωθεί το delay χωρίς υπερβολική αύξηση της κατανάλωσης.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Επιλέχθηκε επίσης επειδή υλοποιείται καθαρά σε transistor level στο LTspice και είναι συμβατή με την CMOS τεχνολογία 0.25 μm του Rabaey.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34477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0AAB7AC-16D2-428F-6708-1D63E70A6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Επιλογή Αρχιτεκτονικής – Γιατί TSPC;</a:t>
            </a:r>
          </a:p>
        </p:txBody>
      </p:sp>
      <p:graphicFrame>
        <p:nvGraphicFramePr>
          <p:cNvPr id="10" name="Θέση περιεχομένου 9">
            <a:extLst>
              <a:ext uri="{FF2B5EF4-FFF2-40B4-BE49-F238E27FC236}">
                <a16:creationId xmlns:a16="http://schemas.microsoft.com/office/drawing/2014/main" id="{BDB50957-AC7C-2B57-1F6E-061640E543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309131"/>
              </p:ext>
            </p:extLst>
          </p:nvPr>
        </p:nvGraphicFramePr>
        <p:xfrm>
          <a:off x="329184" y="1910811"/>
          <a:ext cx="9546340" cy="301679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86585">
                  <a:extLst>
                    <a:ext uri="{9D8B030D-6E8A-4147-A177-3AD203B41FA5}">
                      <a16:colId xmlns:a16="http://schemas.microsoft.com/office/drawing/2014/main" val="639226441"/>
                    </a:ext>
                  </a:extLst>
                </a:gridCol>
                <a:gridCol w="2386585">
                  <a:extLst>
                    <a:ext uri="{9D8B030D-6E8A-4147-A177-3AD203B41FA5}">
                      <a16:colId xmlns:a16="http://schemas.microsoft.com/office/drawing/2014/main" val="2659523667"/>
                    </a:ext>
                  </a:extLst>
                </a:gridCol>
                <a:gridCol w="2386585">
                  <a:extLst>
                    <a:ext uri="{9D8B030D-6E8A-4147-A177-3AD203B41FA5}">
                      <a16:colId xmlns:a16="http://schemas.microsoft.com/office/drawing/2014/main" val="3668646509"/>
                    </a:ext>
                  </a:extLst>
                </a:gridCol>
                <a:gridCol w="2386585">
                  <a:extLst>
                    <a:ext uri="{9D8B030D-6E8A-4147-A177-3AD203B41FA5}">
                      <a16:colId xmlns:a16="http://schemas.microsoft.com/office/drawing/2014/main" val="3654626704"/>
                    </a:ext>
                  </a:extLst>
                </a:gridCol>
              </a:tblGrid>
              <a:tr h="60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Τοπολογία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Clocking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Ταχύτητα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Πολυπλοκότητα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3872718"/>
                  </a:ext>
                </a:extLst>
              </a:tr>
              <a:tr h="60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TGFF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2 φάσεις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Μέτρια–Υψηλή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Μέτρια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0109125"/>
                  </a:ext>
                </a:extLst>
              </a:tr>
              <a:tr h="60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C²MOS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2 φάσεις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Μέτρια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Μέτρια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6404053"/>
                  </a:ext>
                </a:extLst>
              </a:tr>
              <a:tr h="60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SAFF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 φάση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Πολύ Υψηλή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Υψηλότερη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27411"/>
                  </a:ext>
                </a:extLst>
              </a:tr>
              <a:tr h="603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TSPC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1 φάση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Υψηλή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ln>
                            <a:solidFill>
                              <a:sysClr val="windowText" lastClr="000000"/>
                            </a:solidFill>
                          </a:ln>
                          <a:solidFill>
                            <a:schemeClr val="tx1"/>
                          </a:solidFill>
                        </a:rPr>
                        <a:t>Χαμηλή–Μέτρια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94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47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8C42BBD-DAC3-A158-AC61-FE7AAEB9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Αρχιτεκτονική TSPC D Flip-Flop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4778704-4DD5-77C4-35F6-540DE4C0A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" y="2160589"/>
            <a:ext cx="9192768" cy="4447475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TSPC υλοποιείται με </a:t>
            </a:r>
            <a:r>
              <a:rPr lang="el-GR" b="1">
                <a:solidFill>
                  <a:schemeClr val="accent4"/>
                </a:solidFill>
              </a:rPr>
              <a:t>διαδοχικά δυναμικά CMOS stages</a:t>
            </a:r>
            <a:r>
              <a:rPr lang="el-GR">
                <a:solidFill>
                  <a:schemeClr val="accent4"/>
                </a:solidFill>
              </a:rPr>
              <a:t> που ελέγχονται από ένα μόνο clock.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πληροφορία μεταφέρεται μέσω των εσωτερικών κόμβων: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D → X → Y → QBAR → Q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Οι κόμβοι </a:t>
            </a:r>
            <a:r>
              <a:rPr lang="el-GR" b="1">
                <a:solidFill>
                  <a:schemeClr val="accent4"/>
                </a:solidFill>
              </a:rPr>
              <a:t>X</a:t>
            </a:r>
            <a:r>
              <a:rPr lang="el-GR">
                <a:solidFill>
                  <a:schemeClr val="accent4"/>
                </a:solidFill>
              </a:rPr>
              <a:t> και </a:t>
            </a:r>
            <a:r>
              <a:rPr lang="el-GR" b="1">
                <a:solidFill>
                  <a:schemeClr val="accent4"/>
                </a:solidFill>
              </a:rPr>
              <a:t>Y</a:t>
            </a:r>
            <a:r>
              <a:rPr lang="el-GR">
                <a:solidFill>
                  <a:schemeClr val="accent4"/>
                </a:solidFill>
              </a:rPr>
              <a:t> λειτουργούν δυναμικά, με φάσεις precharge και evaluation.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έξοδος του 9T TSPC core είναι το </a:t>
            </a:r>
            <a:r>
              <a:rPr lang="el-GR" b="1">
                <a:solidFill>
                  <a:schemeClr val="accent4"/>
                </a:solidFill>
              </a:rPr>
              <a:t>QBAR</a:t>
            </a:r>
            <a:r>
              <a:rPr lang="el-GR">
                <a:solidFill>
                  <a:schemeClr val="accent4"/>
                </a:solidFill>
              </a:rPr>
              <a:t> και μέσω ενός τελικού CMOS inverter παράγεται το </a:t>
            </a:r>
            <a:r>
              <a:rPr lang="el-GR" b="1">
                <a:solidFill>
                  <a:schemeClr val="accent4"/>
                </a:solidFill>
              </a:rPr>
              <a:t>Q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Συνολικά χρησιμοποιούνται </a:t>
            </a:r>
            <a:r>
              <a:rPr lang="el-GR" b="1">
                <a:solidFill>
                  <a:schemeClr val="accent4"/>
                </a:solidFill>
              </a:rPr>
              <a:t>11 MOS transistors</a:t>
            </a:r>
            <a:r>
              <a:rPr lang="el-GR">
                <a:solidFill>
                  <a:schemeClr val="accent4"/>
                </a:solidFill>
              </a:rPr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9T TSPC core + 2T output inverter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θετική ακμή του CLK ενεργοποιεί τη μεταφορά της αποθηκευμένης πληροφορίας προς την έξοδο.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951938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FCB8462-7045-2A92-790C-CB53FF572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454" y="609600"/>
            <a:ext cx="9295722" cy="1320800"/>
          </a:xfrm>
        </p:spPr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Αρχιτεκτονική TSPC D Flip-Flop – </a:t>
            </a:r>
            <a:r>
              <a:rPr lang="en-US">
                <a:solidFill>
                  <a:srgbClr val="F8931D"/>
                </a:solidFill>
                <a:latin typeface="Trebuchet MS" panose="020B0603020202020204"/>
              </a:rPr>
              <a:t>Schematic </a:t>
            </a:r>
            <a:endParaRPr lang="el-GR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81087A19-E07E-1FFB-830F-6A1A7851C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453" y="2020391"/>
            <a:ext cx="9295723" cy="312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7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BC80BDE-3356-DE9F-C64E-C9888A41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Τεχνολογία και Συνθήκες Προσομοίωσης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52E2567-82E6-FCB6-9E88-A9C588BF5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" y="1840992"/>
            <a:ext cx="9595104" cy="4864608"/>
          </a:xfrm>
        </p:spPr>
        <p:txBody>
          <a:bodyPr>
            <a:normAutofit fontScale="92500" lnSpcReduction="20000"/>
          </a:bodyPr>
          <a:lstStyle/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Προσομοίωση σε </a:t>
            </a:r>
            <a:r>
              <a:rPr lang="el-GR" b="1">
                <a:solidFill>
                  <a:schemeClr val="accent4"/>
                </a:solidFill>
              </a:rPr>
              <a:t>LTspice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CMOS τεχνολογία </a:t>
            </a:r>
            <a:r>
              <a:rPr lang="el-GR" b="1">
                <a:solidFill>
                  <a:schemeClr val="accent4"/>
                </a:solidFill>
              </a:rPr>
              <a:t>0.25 μm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Μοντέλα MOSFET από </a:t>
            </a:r>
            <a:r>
              <a:rPr lang="el-GR" b="1">
                <a:solidFill>
                  <a:schemeClr val="accent4"/>
                </a:solidFill>
              </a:rPr>
              <a:t>Rabaey – Digital Integrated Circuits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BSIM3 v3.1, Level 49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Nominal corner: </a:t>
            </a:r>
            <a:r>
              <a:rPr lang="el-GR" b="1">
                <a:solidFill>
                  <a:schemeClr val="accent4"/>
                </a:solidFill>
              </a:rPr>
              <a:t>TT (Typical–Typical)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Θερμοκρασία: </a:t>
            </a:r>
            <a:r>
              <a:rPr lang="el-GR" b="1">
                <a:solidFill>
                  <a:schemeClr val="accent4"/>
                </a:solidFill>
              </a:rPr>
              <a:t>27 °C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Τάση τροφοδοσίας: </a:t>
            </a:r>
            <a:r>
              <a:rPr lang="el-GR" b="1">
                <a:solidFill>
                  <a:schemeClr val="accent4"/>
                </a:solidFill>
              </a:rPr>
              <a:t>VDD = 2.5 V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Μήκος καναλιού όλων των MOSFET: </a:t>
            </a:r>
            <a:r>
              <a:rPr lang="el-GR" b="1">
                <a:solidFill>
                  <a:schemeClr val="accent4"/>
                </a:solidFill>
              </a:rPr>
              <a:t>L = 0.25 μm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Αρχικά πλάτη: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WN = 0.5 μm</a:t>
            </a:r>
            <a:endParaRPr lang="el-GR">
              <a:solidFill>
                <a:schemeClr val="accent4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WP = 1.5 μm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Αρχικό φορτίο εξόδου: </a:t>
            </a:r>
            <a:r>
              <a:rPr lang="el-GR" b="1">
                <a:solidFill>
                  <a:schemeClr val="accent4"/>
                </a:solidFill>
              </a:rPr>
              <a:t>CL = 5 fF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Συχνότητα ρολογιού: </a:t>
            </a:r>
            <a:r>
              <a:rPr lang="el-GR" b="1">
                <a:solidFill>
                  <a:schemeClr val="accent4"/>
                </a:solidFill>
              </a:rPr>
              <a:t>fCLK = 1 GHz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Οι παραπάνω παράμετροι αποτελούν το baseline configuration πριν από τη βελτιστοποίηση του transistor sizing.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59056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F546874-4126-9A6E-D986-449A8152D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Baseline Simulation – Αρχική Υλοποίηση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FA9B868-8BA4-0796-F671-0595C35EE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3455"/>
            <a:ext cx="8596668" cy="4297907"/>
          </a:xfrm>
        </p:spPr>
        <p:txBody>
          <a:bodyPr/>
          <a:lstStyle/>
          <a:p>
            <a:pPr>
              <a:buNone/>
            </a:pPr>
            <a:r>
              <a:rPr lang="el-GR">
                <a:solidFill>
                  <a:schemeClr val="accent4"/>
                </a:solidFill>
              </a:rPr>
              <a:t>Η πρώτη προσομοίωση πραγματοποιήθηκε με τις αρχικές διαστάσεις:</a:t>
            </a:r>
          </a:p>
          <a:p>
            <a:pPr>
              <a:buNone/>
            </a:pPr>
            <a:r>
              <a:rPr lang="el-GR" b="1">
                <a:solidFill>
                  <a:schemeClr val="accent4"/>
                </a:solidFill>
              </a:rPr>
              <a:t>WN = 0.5 μm, WP = 1.5 μm, CL = 5 fF, VDD = 2.5 V, fCLK = 1 GHz</a:t>
            </a:r>
            <a:endParaRPr lang="el-GR">
              <a:solidFill>
                <a:schemeClr val="accent4"/>
              </a:solidFill>
            </a:endParaRPr>
          </a:p>
          <a:p>
            <a:pPr>
              <a:buNone/>
            </a:pPr>
            <a:r>
              <a:rPr lang="el-GR">
                <a:solidFill>
                  <a:schemeClr val="accent4"/>
                </a:solidFill>
              </a:rPr>
              <a:t>Οι βασικές μετρήσεις ήταν:</a:t>
            </a:r>
          </a:p>
          <a:p>
            <a:pPr>
              <a:buNone/>
            </a:pPr>
            <a:endParaRPr lang="el-GR">
              <a:solidFill>
                <a:schemeClr val="accent4"/>
              </a:solidFill>
            </a:endParaRPr>
          </a:p>
          <a:p>
            <a:endParaRPr lang="el-GR"/>
          </a:p>
        </p:txBody>
      </p: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D49D6EB0-5A85-9A08-EA97-18C9D8A20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49650"/>
              </p:ext>
            </p:extLst>
          </p:nvPr>
        </p:nvGraphicFramePr>
        <p:xfrm>
          <a:off x="677334" y="3429000"/>
          <a:ext cx="8596312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1771567808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865327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>
                          <a:solidFill>
                            <a:schemeClr val="tx1"/>
                          </a:solidFill>
                        </a:rPr>
                        <a:t>Μέτρηση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l-GR" b="1">
                          <a:solidFill>
                            <a:schemeClr val="tx1"/>
                          </a:solidFill>
                        </a:rPr>
                        <a:t>Τιμή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93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tCQ,LH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71.14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816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tCQ,HL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117.21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5456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Worst-case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117.21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8775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Average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47.04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52413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PDP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5.514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70796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Energy / 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>
                          <a:solidFill>
                            <a:schemeClr val="tx1"/>
                          </a:solidFill>
                        </a:rPr>
                        <a:t>47.04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7241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460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7D2FCCE-1CB6-2F08-274A-198344229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316" y="609600"/>
            <a:ext cx="8596668" cy="13208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D – CLK – Q  SCHEMATIC </a:t>
            </a:r>
            <a:endParaRPr lang="el-GR">
              <a:solidFill>
                <a:schemeClr val="accent2"/>
              </a:solidFill>
            </a:endParaRP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2F412C15-C88A-18DF-1040-91D5117AC1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149" b="8908"/>
          <a:stretch>
            <a:fillRect/>
          </a:stretch>
        </p:blipFill>
        <p:spPr>
          <a:xfrm>
            <a:off x="430316" y="1454912"/>
            <a:ext cx="9189172" cy="4130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4A179D-829F-FF1F-FED5-F6D209CD9D6A}"/>
              </a:ext>
            </a:extLst>
          </p:cNvPr>
          <p:cNvSpPr txBox="1"/>
          <p:nvPr/>
        </p:nvSpPr>
        <p:spPr>
          <a:xfrm>
            <a:off x="430316" y="5925234"/>
            <a:ext cx="9189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CA08"/>
              </a:buClr>
              <a:buSzPct val="8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l-GR" sz="1800" b="0" i="0" u="none" strike="noStrike" kern="1200" cap="none" spc="0" normalizeH="0" baseline="0" noProof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Το tCQ,HL αποτελεί το worst-case transition και επομένως καθορίζει το αρχικό clock-to-Q delay του κυκλώματος.</a:t>
            </a:r>
          </a:p>
        </p:txBody>
      </p:sp>
    </p:spTree>
    <p:extLst>
      <p:ext uri="{BB962C8B-B14F-4D97-AF65-F5344CB8AC3E}">
        <p14:creationId xmlns:p14="http://schemas.microsoft.com/office/powerpoint/2010/main" val="5332940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513E05B-E104-A74D-E40D-F0C83B6FB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Critical Path Analysis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48D73FEE-5CF3-E269-4E68-AFBF6A71F6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4318893"/>
              </p:ext>
            </p:extLst>
          </p:nvPr>
        </p:nvGraphicFramePr>
        <p:xfrm>
          <a:off x="677334" y="1419066"/>
          <a:ext cx="8596312" cy="1463040"/>
        </p:xfrm>
        <a:graphic>
          <a:graphicData uri="http://schemas.openxmlformats.org/drawingml/2006/table">
            <a:tbl>
              <a:tblPr/>
              <a:tblGrid>
                <a:gridCol w="4298156">
                  <a:extLst>
                    <a:ext uri="{9D8B030D-6E8A-4147-A177-3AD203B41FA5}">
                      <a16:colId xmlns:a16="http://schemas.microsoft.com/office/drawing/2014/main" val="1929949363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2416821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Διαδρομή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Καθυστέρηση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2211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CLK →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37.76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897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CLK → QBAR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72.70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65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CLK → Q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>
                          <a:solidFill>
                            <a:schemeClr val="accent4"/>
                          </a:solidFill>
                        </a:rPr>
                        <a:t>117.21 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8879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563E519-AF5D-207D-FCA3-69004877F3D0}"/>
              </a:ext>
            </a:extLst>
          </p:cNvPr>
          <p:cNvSpPr txBox="1"/>
          <p:nvPr/>
        </p:nvSpPr>
        <p:spPr>
          <a:xfrm>
            <a:off x="677334" y="3080941"/>
            <a:ext cx="900311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>
                <a:solidFill>
                  <a:schemeClr val="accent4"/>
                </a:solidFill>
              </a:rPr>
              <a:t>Για να εντοπιστεί πού δημιουργείται το μεγαλύτερο μέρος της καθυστέρησης, μετρήθηκαν οι χρόνοι διάδοσης στους εσωτερικούς κόμβους του TSPC:</a:t>
            </a:r>
          </a:p>
          <a:p>
            <a:endParaRPr lang="el-GR">
              <a:solidFill>
                <a:schemeClr val="accent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Από τις μετρήσεις φαίνεται ότι σημαντικό μέρος της καθυστέρησης εμφανίζεται στα τελευταία στάδια της διαδρομής προς την έξοδο.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l-GR">
              <a:solidFill>
                <a:schemeClr val="accent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κρίσιμη διαδρομή που εξετάστηκε για optimization ήταν: </a:t>
            </a:r>
            <a:r>
              <a:rPr lang="el-GR" b="1">
                <a:solidFill>
                  <a:schemeClr val="accent4"/>
                </a:solidFill>
              </a:rPr>
              <a:t>M4 / M5 → M9 → Output Inverter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l-GR">
              <a:solidFill>
                <a:schemeClr val="accent4"/>
              </a:solidFill>
            </a:endParaRPr>
          </a:p>
          <a:p>
            <a:r>
              <a:rPr lang="el-GR">
                <a:solidFill>
                  <a:schemeClr val="accent4"/>
                </a:solidFill>
              </a:rPr>
              <a:t>Τα τρανζίστορ που επιλέχθηκαν για selective sizing ήταν: </a:t>
            </a:r>
            <a:r>
              <a:rPr lang="el-GR" b="1">
                <a:solidFill>
                  <a:schemeClr val="accent4"/>
                </a:solidFill>
              </a:rPr>
              <a:t>M4, M5, M9 και M11</a:t>
            </a:r>
          </a:p>
          <a:p>
            <a:endParaRPr lang="el-GR" b="1">
              <a:solidFill>
                <a:schemeClr val="accent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Στόχος</a:t>
            </a:r>
            <a:r>
              <a:rPr lang="el-GR">
                <a:solidFill>
                  <a:schemeClr val="accent4"/>
                </a:solidFill>
              </a:rPr>
              <a:t>: αύξηση του drive strength μόνο στα κρίσιμα τρανζίστορ, ώστε να μειωθεί το tCQ χωρίς άσκοπη αύξηση της συνολικής κατανάλωσης.</a:t>
            </a:r>
          </a:p>
        </p:txBody>
      </p:sp>
    </p:spTree>
    <p:extLst>
      <p:ext uri="{BB962C8B-B14F-4D97-AF65-F5344CB8AC3E}">
        <p14:creationId xmlns:p14="http://schemas.microsoft.com/office/powerpoint/2010/main" val="1891943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C8C1709-EA46-97AF-39B0-36EC7B125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Coarse Transistor Sizing Sweep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BAAF2783-0760-ADCA-4AF9-A8E98674F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8515054"/>
              </p:ext>
            </p:extLst>
          </p:nvPr>
        </p:nvGraphicFramePr>
        <p:xfrm>
          <a:off x="677690" y="3824886"/>
          <a:ext cx="8596312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49078">
                  <a:extLst>
                    <a:ext uri="{9D8B030D-6E8A-4147-A177-3AD203B41FA5}">
                      <a16:colId xmlns:a16="http://schemas.microsoft.com/office/drawing/2014/main" val="1413928365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422284816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3340526578"/>
                    </a:ext>
                  </a:extLst>
                </a:gridCol>
                <a:gridCol w="2149078">
                  <a:extLst>
                    <a:ext uri="{9D8B030D-6E8A-4147-A177-3AD203B41FA5}">
                      <a16:colId xmlns:a16="http://schemas.microsoft.com/office/drawing/2014/main" val="10801522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Kcrit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Worst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Pavg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PDP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325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117.21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47.04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5.514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91713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104.64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49.54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5.183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4361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95.93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52.46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5.033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6410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2.00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87.78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59.10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5.187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91556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96.17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65.69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6.318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5695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3.00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104.62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72.28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7.562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61066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4D6D0AD-8984-35D7-A0DF-1787096AC017}"/>
              </a:ext>
            </a:extLst>
          </p:cNvPr>
          <p:cNvSpPr txBox="1"/>
          <p:nvPr/>
        </p:nvSpPr>
        <p:spPr>
          <a:xfrm>
            <a:off x="677334" y="1412832"/>
            <a:ext cx="96492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Για τα κρίσιμα τρανζίστορ εφαρμόστηκε κοινός συντελεστής κλιμάκωσης </a:t>
            </a:r>
            <a:r>
              <a:rPr lang="el-GR" b="1">
                <a:solidFill>
                  <a:schemeClr val="accent4"/>
                </a:solidFill>
              </a:rPr>
              <a:t>Kcrit</a:t>
            </a:r>
            <a:r>
              <a:rPr lang="el-GR">
                <a:solidFill>
                  <a:schemeClr val="accent4"/>
                </a:solidFill>
              </a:rPr>
              <a:t>:</a:t>
            </a:r>
          </a:p>
          <a:p>
            <a:r>
              <a:rPr lang="el-GR" b="1">
                <a:solidFill>
                  <a:schemeClr val="accent4"/>
                </a:solidFill>
              </a:rPr>
              <a:t> </a:t>
            </a:r>
          </a:p>
          <a:p>
            <a:r>
              <a:rPr lang="el-GR" b="1">
                <a:solidFill>
                  <a:schemeClr val="accent4"/>
                </a:solidFill>
              </a:rPr>
              <a:t>    M4, M5, M11: W = 0.5 μm × Kcrit</a:t>
            </a:r>
          </a:p>
          <a:p>
            <a:br>
              <a:rPr lang="el-GR">
                <a:solidFill>
                  <a:schemeClr val="accent4"/>
                </a:solidFill>
              </a:rPr>
            </a:br>
            <a:r>
              <a:rPr lang="el-GR">
                <a:solidFill>
                  <a:schemeClr val="accent4"/>
                </a:solidFill>
              </a:rPr>
              <a:t>    </a:t>
            </a:r>
            <a:r>
              <a:rPr lang="el-GR" b="1">
                <a:solidFill>
                  <a:schemeClr val="accent4"/>
                </a:solidFill>
              </a:rPr>
              <a:t>M9: W = 1.5 μm × Kcrit</a:t>
            </a:r>
          </a:p>
          <a:p>
            <a:endParaRPr lang="el-GR">
              <a:solidFill>
                <a:schemeClr val="accent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Έγινε αρχικό sweep: </a:t>
            </a:r>
            <a:r>
              <a:rPr lang="el-GR" b="1">
                <a:solidFill>
                  <a:schemeClr val="accent4"/>
                </a:solidFill>
              </a:rPr>
              <a:t>Kcrit = 1, 1.25, 1.5, 2, 2.5, 3</a:t>
            </a:r>
            <a:endParaRPr lang="el-G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188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3050261-E92A-44A3-9E6B-E47226EE6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Coarse Transistor Sizing Sweep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Schematics</a:t>
            </a:r>
            <a:endParaRPr lang="el-GR"/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92F7269B-9A3A-3ED0-4E6B-A2626EEAF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223008"/>
            <a:ext cx="9370229" cy="420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003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F26954A-0ED1-DDEB-7938-D29025378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Coarse Transistor Sizing Sweep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Schematics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E634CBA9-FE39-AFE0-655C-7B6FBBD9F0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198" y="2133600"/>
            <a:ext cx="5008617" cy="4606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966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5F71480-D0ED-E479-25F2-089CAA80A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Coarse Transistor Sizing Sweep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</a:t>
            </a:r>
            <a:r>
              <a:rPr lang="en-US">
                <a:solidFill>
                  <a:srgbClr val="F8931D"/>
                </a:solidFill>
                <a:latin typeface="Trebuchet MS" panose="020B0603020202020204"/>
              </a:rPr>
              <a:t>Worst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_tCQ – Kcrit Diagram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97EF3A05-709B-E501-0CFC-265ACB2559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819211"/>
            <a:ext cx="8259402" cy="493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880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BDD01F5D-A96D-76F8-77AC-9A851ED74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Coarse Transistor Sizing Sweep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</a:t>
            </a:r>
            <a:b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Συμπεράσματα 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10315EC-1A78-9B56-AD86-0BC33363A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197249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αύξηση του Kcrit αρχικά μειώνει σημαντικά το delay, αλλά μετά από περίπου </a:t>
            </a:r>
            <a:r>
              <a:rPr lang="el-GR" b="1">
                <a:solidFill>
                  <a:schemeClr val="accent4"/>
                </a:solidFill>
              </a:rPr>
              <a:t>Kcrit ≈ 2</a:t>
            </a:r>
            <a:r>
              <a:rPr lang="el-GR">
                <a:solidFill>
                  <a:schemeClr val="accent4"/>
                </a:solidFill>
              </a:rPr>
              <a:t> η επιπλέον χωρητικότητα των μεγαλύτερων MOS αρχίζει να επιβαρύνει ξανά την απόδοση.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Άρα η περιοχή ενδιαφέροντος είναι περίπου:</a:t>
            </a:r>
            <a:r>
              <a:rPr lang="en-US">
                <a:solidFill>
                  <a:schemeClr val="accent4"/>
                </a:solidFill>
              </a:rPr>
              <a:t> </a:t>
            </a:r>
            <a:r>
              <a:rPr lang="el-GR" b="1">
                <a:solidFill>
                  <a:schemeClr val="accent4"/>
                </a:solidFill>
              </a:rPr>
              <a:t>Kcrit = 1.5 – 2.0</a:t>
            </a:r>
            <a:endParaRPr lang="el-GR">
              <a:solidFill>
                <a:schemeClr val="accent4"/>
              </a:solidFill>
            </a:endParaRP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49935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EA5495-FCE7-ED18-4F5D-9E8BDE69E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Fine Transistor Sizing Sweep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6D7FFD06-09E0-339D-0752-E1B852509D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26982627"/>
              </p:ext>
            </p:extLst>
          </p:nvPr>
        </p:nvGraphicFramePr>
        <p:xfrm>
          <a:off x="677334" y="3281681"/>
          <a:ext cx="8596314" cy="3291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432719">
                  <a:extLst>
                    <a:ext uri="{9D8B030D-6E8A-4147-A177-3AD203B41FA5}">
                      <a16:colId xmlns:a16="http://schemas.microsoft.com/office/drawing/2014/main" val="2860734336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3560750038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228797086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4018877154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827740319"/>
                    </a:ext>
                  </a:extLst>
                </a:gridCol>
                <a:gridCol w="1432719">
                  <a:extLst>
                    <a:ext uri="{9D8B030D-6E8A-4147-A177-3AD203B41FA5}">
                      <a16:colId xmlns:a16="http://schemas.microsoft.com/office/drawing/2014/main" val="3361696017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Kcrit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tCQ,LH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tCQ,HL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Worst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Pavg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PDP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6975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76.13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102.65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102.65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50.03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5.135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0285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77.79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99.07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99.07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51.22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5.074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45335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79.45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95.93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95.93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52.46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5.033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174542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81.11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93.16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93.16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53.69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5.002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302201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82.77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90.69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90.69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55.04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4.992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18531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84.44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88.48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88.48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56.34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4.985 fJ</a:t>
                      </a:r>
                      <a:endParaRPr lang="el-GR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017654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1.9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86.11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86.50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 b="1"/>
                        <a:t>86.50 ps</a:t>
                      </a:r>
                      <a:endParaRPr lang="el-G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57.71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4.992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682355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2.0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87.78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84.72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87.78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59.10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 sz="1800"/>
                        <a:t>5.187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07194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3570F00-F788-86D0-E8B0-80B75563EF14}"/>
              </a:ext>
            </a:extLst>
          </p:cNvPr>
          <p:cNvSpPr txBox="1"/>
          <p:nvPr/>
        </p:nvSpPr>
        <p:spPr>
          <a:xfrm>
            <a:off x="676980" y="1659419"/>
            <a:ext cx="8596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Μετά το coarse sweep, η περιοχή </a:t>
            </a:r>
            <a:r>
              <a:rPr lang="el-GR" b="1">
                <a:solidFill>
                  <a:schemeClr val="accent4"/>
                </a:solidFill>
              </a:rPr>
              <a:t>Kcrit = 1.5–2.0</a:t>
            </a:r>
            <a:r>
              <a:rPr lang="el-GR">
                <a:solidFill>
                  <a:schemeClr val="accent4"/>
                </a:solidFill>
              </a:rPr>
              <a:t> εξετάστηκε με μικρότερο βήμα ώστε να βρεθεί καλύτερα το optimum σημείο.</a:t>
            </a:r>
          </a:p>
          <a:p>
            <a:endParaRPr lang="el-GR">
              <a:solidFill>
                <a:schemeClr val="accent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Sweep: Kcrit = 1.3, 1.4, 1.5, 1.6, 1.7, 1.8, 1.9, 2.0</a:t>
            </a:r>
            <a:endParaRPr lang="el-G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801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566F488-5B1D-954A-C950-F16B75F0D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Fine Transistor Sizing Sweep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: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Schematic  </a:t>
            </a:r>
            <a:endParaRPr lang="el-GR"/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FAE475CF-7C11-16D6-91DA-1D078D37D1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994" y="2213161"/>
            <a:ext cx="9247166" cy="416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4056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6EB2C5B4-49C5-5CB8-5615-859283D1D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Fine Transistor Sizing Sweep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lang="el-GR">
                <a:solidFill>
                  <a:srgbClr val="F8931D"/>
                </a:solidFill>
                <a:latin typeface="Trebuchet MS" panose="020B0603020202020204"/>
              </a:rPr>
              <a:t>Συμπεράσματα 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71D884E-9353-BBD5-31E8-FCB62584AC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μικρότερο </a:t>
            </a:r>
            <a:r>
              <a:rPr lang="el-GR" b="1">
                <a:solidFill>
                  <a:schemeClr val="accent4"/>
                </a:solidFill>
              </a:rPr>
              <a:t>worst-case tCQ</a:t>
            </a:r>
            <a:r>
              <a:rPr lang="el-GR">
                <a:solidFill>
                  <a:schemeClr val="accent4"/>
                </a:solidFill>
              </a:rPr>
              <a:t> εμφανίζεται στο </a:t>
            </a:r>
            <a:r>
              <a:rPr lang="el-GR" b="1">
                <a:solidFill>
                  <a:schemeClr val="accent4"/>
                </a:solidFill>
              </a:rPr>
              <a:t>Kcrit = 1.9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μικρότερο </a:t>
            </a:r>
            <a:r>
              <a:rPr lang="el-GR" b="1">
                <a:solidFill>
                  <a:schemeClr val="accent4"/>
                </a:solidFill>
              </a:rPr>
              <a:t>PDP</a:t>
            </a:r>
            <a:r>
              <a:rPr lang="el-GR">
                <a:solidFill>
                  <a:schemeClr val="accent4"/>
                </a:solidFill>
              </a:rPr>
              <a:t> εμφανίζεται στο </a:t>
            </a:r>
            <a:r>
              <a:rPr lang="el-GR" b="1">
                <a:solidFill>
                  <a:schemeClr val="accent4"/>
                </a:solidFill>
              </a:rPr>
              <a:t>Kcrit = 1.8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Επειδή ζητείται βελτιστοποίηση ως προς </a:t>
            </a:r>
            <a:r>
              <a:rPr lang="el-GR" b="1">
                <a:solidFill>
                  <a:schemeClr val="accent4"/>
                </a:solidFill>
              </a:rPr>
              <a:t>ταχύτητα και κατανάλωση</a:t>
            </a:r>
            <a:r>
              <a:rPr lang="el-GR">
                <a:solidFill>
                  <a:schemeClr val="accent4"/>
                </a:solidFill>
              </a:rPr>
              <a:t>, επιλέγεται: </a:t>
            </a:r>
            <a:r>
              <a:rPr lang="el-GR" b="1">
                <a:solidFill>
                  <a:schemeClr val="accent4"/>
                </a:solidFill>
              </a:rPr>
              <a:t>Kcrit = 1.8</a:t>
            </a:r>
            <a:endParaRPr lang="el-GR">
              <a:solidFill>
                <a:schemeClr val="accent4"/>
              </a:solidFill>
            </a:endParaRP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28390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E610B66-F7D8-042D-765B-0605FA451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7418154" cy="13208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  <a:latin typeface="Trebuchet MS" panose="020B0603020202020204"/>
              </a:rPr>
              <a:t>Fine </a:t>
            </a:r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Transistor Sizing Sweep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PDP – Kcrit Diagram</a:t>
            </a:r>
            <a:endParaRPr lang="el-GR">
              <a:solidFill>
                <a:schemeClr val="accent2"/>
              </a:solidFill>
            </a:endParaRPr>
          </a:p>
        </p:txBody>
      </p:sp>
      <p:pic>
        <p:nvPicPr>
          <p:cNvPr id="5" name="Θέση περιεχομένου 4">
            <a:extLst>
              <a:ext uri="{FF2B5EF4-FFF2-40B4-BE49-F238E27FC236}">
                <a16:creationId xmlns:a16="http://schemas.microsoft.com/office/drawing/2014/main" id="{F16AE845-4463-D01F-2327-F3422E6A7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60587"/>
            <a:ext cx="7674186" cy="456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015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A9D1C2A-3074-0CEA-AAB8-CDD87948A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Optimized Design – Kcrit = 1.8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D7803138-799E-3339-83AB-5FCBA77FF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978" y="2367627"/>
            <a:ext cx="8596668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Με βάση το fine sweep επιλέχθηκε το: </a:t>
            </a:r>
            <a:r>
              <a:rPr lang="el-GR" b="1">
                <a:solidFill>
                  <a:schemeClr val="accent4"/>
                </a:solidFill>
              </a:rPr>
              <a:t>Kcrit = 1.8  </a:t>
            </a:r>
            <a:r>
              <a:rPr lang="el-GR">
                <a:solidFill>
                  <a:schemeClr val="accent4"/>
                </a:solidFill>
              </a:rPr>
              <a:t>οπότε οι διαστάσεις των κρίσιμων τρανζίστορ έγιναν:</a:t>
            </a:r>
          </a:p>
          <a:p>
            <a:endParaRPr lang="el-GR"/>
          </a:p>
        </p:txBody>
      </p: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9EEF96E8-2459-FB6A-4C46-4D7023CD0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8306190"/>
              </p:ext>
            </p:extLst>
          </p:nvPr>
        </p:nvGraphicFramePr>
        <p:xfrm>
          <a:off x="677334" y="3857466"/>
          <a:ext cx="8596312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36470202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39356473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Τρανζίστορ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Τελικό 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53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M4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0.9 μm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9511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M5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0.9 μm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2464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M9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2.7 μm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323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M11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0.9 μm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7160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77102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6E9BCE3-9C34-792D-C772-E55A6156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Optimized Design – Kcrit = 1.8</a:t>
            </a:r>
            <a:endParaRPr lang="el-GR"/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D90F73A0-CBF0-99C9-8A0D-94A3DA91AE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635900"/>
              </p:ext>
            </p:extLst>
          </p:nvPr>
        </p:nvGraphicFramePr>
        <p:xfrm>
          <a:off x="677334" y="2073653"/>
          <a:ext cx="8596668" cy="3291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298334">
                  <a:extLst>
                    <a:ext uri="{9D8B030D-6E8A-4147-A177-3AD203B41FA5}">
                      <a16:colId xmlns:a16="http://schemas.microsoft.com/office/drawing/2014/main" val="3127552929"/>
                    </a:ext>
                  </a:extLst>
                </a:gridCol>
                <a:gridCol w="4298334">
                  <a:extLst>
                    <a:ext uri="{9D8B030D-6E8A-4147-A177-3AD203B41FA5}">
                      <a16:colId xmlns:a16="http://schemas.microsoft.com/office/drawing/2014/main" val="568258024"/>
                    </a:ext>
                  </a:extLst>
                </a:gridCol>
              </a:tblGrid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Μέτρηση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Τιμή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4119901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tCQ,LH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84.44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623033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tCQ,HL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88.48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5157248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Worst-case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88.48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1965773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Average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56.34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357329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PDP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4.985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9468390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Energy / 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56.34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1217126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CLK → 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33.19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3201931"/>
                  </a:ext>
                </a:extLst>
              </a:tr>
              <a:tr h="332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l-GR"/>
                        <a:t>CLK → QBAR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/>
                        <a:t>59.24 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7980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578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FD4F4AF-7DB6-7D98-96D3-E868DE93F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332" y="609600"/>
            <a:ext cx="8596668" cy="1475232"/>
          </a:xfrm>
        </p:spPr>
        <p:txBody>
          <a:bodyPr>
            <a:normAutofit/>
          </a:bodyPr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Optimized Design – Kcrit = 1.8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: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Schematic </a:t>
            </a:r>
            <a:endParaRPr lang="el-GR">
              <a:solidFill>
                <a:schemeClr val="accent2"/>
              </a:solidFill>
            </a:endParaRPr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53CB200C-F3D7-9001-E473-F96A62FE2D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3592"/>
          <a:stretch>
            <a:fillRect/>
          </a:stretch>
        </p:blipFill>
        <p:spPr>
          <a:xfrm>
            <a:off x="443332" y="2255520"/>
            <a:ext cx="10036786" cy="4437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44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A3E55EBC-84BB-FB07-0A30-C0AAD2554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6869514" cy="1320800"/>
          </a:xfrm>
        </p:spPr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Σύγκριση </a:t>
            </a:r>
            <a:r>
              <a:rPr lang="en-US">
                <a:solidFill>
                  <a:schemeClr val="accent2"/>
                </a:solidFill>
              </a:rPr>
              <a:t>Baseline – Optimized (Kcrit = 1.8)</a:t>
            </a:r>
            <a:endParaRPr lang="el-GR">
              <a:solidFill>
                <a:schemeClr val="accent2"/>
              </a:solidFill>
            </a:endParaRP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473468F4-7EFD-7295-1941-1ACD11C965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675831"/>
              </p:ext>
            </p:extLst>
          </p:nvPr>
        </p:nvGraphicFramePr>
        <p:xfrm>
          <a:off x="341376" y="2974846"/>
          <a:ext cx="9546334" cy="223113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386583">
                  <a:extLst>
                    <a:ext uri="{9D8B030D-6E8A-4147-A177-3AD203B41FA5}">
                      <a16:colId xmlns:a16="http://schemas.microsoft.com/office/drawing/2014/main" val="2418915004"/>
                    </a:ext>
                  </a:extLst>
                </a:gridCol>
                <a:gridCol w="2386583">
                  <a:extLst>
                    <a:ext uri="{9D8B030D-6E8A-4147-A177-3AD203B41FA5}">
                      <a16:colId xmlns:a16="http://schemas.microsoft.com/office/drawing/2014/main" val="2227753427"/>
                    </a:ext>
                  </a:extLst>
                </a:gridCol>
                <a:gridCol w="2854945">
                  <a:extLst>
                    <a:ext uri="{9D8B030D-6E8A-4147-A177-3AD203B41FA5}">
                      <a16:colId xmlns:a16="http://schemas.microsoft.com/office/drawing/2014/main" val="839592605"/>
                    </a:ext>
                  </a:extLst>
                </a:gridCol>
                <a:gridCol w="1918223">
                  <a:extLst>
                    <a:ext uri="{9D8B030D-6E8A-4147-A177-3AD203B41FA5}">
                      <a16:colId xmlns:a16="http://schemas.microsoft.com/office/drawing/2014/main" val="3707711771"/>
                    </a:ext>
                  </a:extLst>
                </a:gridCol>
              </a:tblGrid>
              <a:tr h="5577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Optimized (Kcrit =</a:t>
                      </a:r>
                      <a:r>
                        <a:rPr lang="en-US"/>
                        <a:t> 1.8)</a:t>
                      </a:r>
                      <a:r>
                        <a:rPr lang="el-GR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Change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22409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Worst-case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117.21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−24.5%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6750258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Average Power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47.04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56.34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+19.8%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2894818"/>
                  </a:ext>
                </a:extLst>
              </a:tr>
              <a:tr h="55778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PDP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5.514 fJ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4.985 fJ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−9.6%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393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15711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54CF2C8-A66A-CF30-D7C5-17CBBE077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Setup Time Characterization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6D5CDC87-57DF-9A86-DA81-6E969A341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Μετά τη βελτιστοποίηση του κυκλώματος με </a:t>
            </a:r>
            <a:r>
              <a:rPr lang="el-GR" b="1">
                <a:solidFill>
                  <a:schemeClr val="accent4"/>
                </a:solidFill>
              </a:rPr>
              <a:t>Kcrit = 1.8</a:t>
            </a:r>
            <a:r>
              <a:rPr lang="el-GR">
                <a:solidFill>
                  <a:schemeClr val="accent4"/>
                </a:solidFill>
              </a:rPr>
              <a:t>, πραγματοποιήθηκε sweep της χρονικής απόστασης μεταξύ της μετάβασης του </a:t>
            </a:r>
            <a:r>
              <a:rPr lang="el-GR" b="1">
                <a:solidFill>
                  <a:schemeClr val="accent4"/>
                </a:solidFill>
              </a:rPr>
              <a:t>D</a:t>
            </a:r>
            <a:r>
              <a:rPr lang="el-GR">
                <a:solidFill>
                  <a:schemeClr val="accent4"/>
                </a:solidFill>
              </a:rPr>
              <a:t> και της ενεργού ακμής του </a:t>
            </a:r>
            <a:r>
              <a:rPr lang="el-GR" b="1">
                <a:solidFill>
                  <a:schemeClr val="accent4"/>
                </a:solidFill>
              </a:rPr>
              <a:t>CLK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Ως κριτήριο setup time χρησιμοποιήθηκε αύξηση του clock-to-Q delay κατά </a:t>
            </a:r>
            <a:r>
              <a:rPr lang="el-GR" b="1">
                <a:solidFill>
                  <a:schemeClr val="accent4"/>
                </a:solidFill>
              </a:rPr>
              <a:t>10%</a:t>
            </a:r>
            <a:r>
              <a:rPr lang="el-GR">
                <a:solidFill>
                  <a:schemeClr val="accent4"/>
                </a:solidFill>
              </a:rPr>
              <a:t> σε σχέση με την ονομαστική τιμή.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Nominal tCQ ≈ 84.33 ps</a:t>
            </a:r>
            <a:br>
              <a:rPr lang="el-GR">
                <a:solidFill>
                  <a:schemeClr val="accent4"/>
                </a:solidFill>
              </a:rPr>
            </a:br>
            <a:r>
              <a:rPr lang="el-GR" b="1">
                <a:solidFill>
                  <a:schemeClr val="accent4"/>
                </a:solidFill>
              </a:rPr>
              <a:t>10% limit ≈ 92.76 ps</a:t>
            </a:r>
            <a:endParaRPr lang="en-US" b="1">
              <a:solidFill>
                <a:schemeClr val="accent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Καθώς το D πλησιάζει την ενεργό ακμή του CLK, το </a:t>
            </a:r>
            <a:r>
              <a:rPr lang="el-GR" b="1">
                <a:solidFill>
                  <a:schemeClr val="accent4"/>
                </a:solidFill>
              </a:rPr>
              <a:t>clock-to-Q delay αυξάνεται</a:t>
            </a:r>
            <a:r>
              <a:rPr lang="el-GR">
                <a:solidFill>
                  <a:schemeClr val="accent4"/>
                </a:solidFill>
              </a:rPr>
              <a:t>.</a:t>
            </a:r>
            <a:endParaRPr lang="en-US" b="1">
              <a:solidFill>
                <a:schemeClr val="accent4"/>
              </a:solidFill>
            </a:endParaRPr>
          </a:p>
          <a:p>
            <a:pPr marL="0" indent="0">
              <a:buNone/>
            </a:pPr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21764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1FDEBEE-38D9-D124-77AC-18348D363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Setup Time Characterization</a:t>
            </a:r>
            <a:endParaRPr lang="el-GR"/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00DFF4E8-02E0-774E-301C-CD007D668D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9081377"/>
              </p:ext>
            </p:extLst>
          </p:nvPr>
        </p:nvGraphicFramePr>
        <p:xfrm>
          <a:off x="677334" y="1751946"/>
          <a:ext cx="7808298" cy="38964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04149">
                  <a:extLst>
                    <a:ext uri="{9D8B030D-6E8A-4147-A177-3AD203B41FA5}">
                      <a16:colId xmlns:a16="http://schemas.microsoft.com/office/drawing/2014/main" val="3919667960"/>
                    </a:ext>
                  </a:extLst>
                </a:gridCol>
                <a:gridCol w="3904149">
                  <a:extLst>
                    <a:ext uri="{9D8B030D-6E8A-4147-A177-3AD203B41FA5}">
                      <a16:colId xmlns:a16="http://schemas.microsoft.com/office/drawing/2014/main" val="2866002679"/>
                    </a:ext>
                  </a:extLst>
                </a:gridCol>
              </a:tblGrid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Tsu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tCQ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723442939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−10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113.33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204999547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−8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100.81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785715321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−6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94.42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923627878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−5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92.39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591627387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−4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90.85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4038344806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87.37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921735747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10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85.29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731054377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20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84.80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165675560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50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84.44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104013882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100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84.33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61434361"/>
                  </a:ext>
                </a:extLst>
              </a:tr>
              <a:tr h="2646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200 ps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84.34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1946377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254F877-43F9-7A0A-02BD-05F2959811D4}"/>
              </a:ext>
            </a:extLst>
          </p:cNvPr>
          <p:cNvSpPr txBox="1"/>
          <p:nvPr/>
        </p:nvSpPr>
        <p:spPr>
          <a:xfrm>
            <a:off x="677334" y="5867410"/>
            <a:ext cx="610209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ελαφρώς αρνητικό setup time οφείλεται στο ότι η πραγματική χρονική περιοχή δειγματοληψίας του TSPC δεν συμπίπτει ακριβώς με το 50% crossing του CLK.</a:t>
            </a:r>
          </a:p>
        </p:txBody>
      </p:sp>
    </p:spTree>
    <p:extLst>
      <p:ext uri="{BB962C8B-B14F-4D97-AF65-F5344CB8AC3E}">
        <p14:creationId xmlns:p14="http://schemas.microsoft.com/office/powerpoint/2010/main" val="14001960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86D80E0-C218-E4B1-2794-853674D61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822" y="609600"/>
            <a:ext cx="8596668" cy="1320800"/>
          </a:xfrm>
        </p:spPr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Tsetup – Tcq delay sweep Schematic Results </a:t>
            </a:r>
            <a:endParaRPr lang="el-GR">
              <a:solidFill>
                <a:schemeClr val="accent2"/>
              </a:solidFill>
            </a:endParaRPr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8EC88903-020B-B142-E2E0-B8A43ED3A4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822" y="2165296"/>
            <a:ext cx="9093580" cy="408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062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D9DC714-96D9-4836-2100-131CD4212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Tsetup – Tcq delay sweep Schematic Results 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C12E1483-493F-DF2B-FDD2-82717FA26C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75632"/>
            <a:ext cx="8832003" cy="39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24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42E5FC6-49F2-3F63-A356-D253BCC3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Output Load Sweep – CL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D0409D0-B0AA-52E3-BF7F-CF2336CD8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82637"/>
            <a:ext cx="8596668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Για να μελετηθεί η επίδραση του φορτίου εξόδου στην ταχύτητα και την κατανάλωση, έγινε sweep: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CL = 1 fF, 2 fF, 5 fF, 10 fF, 20 fF, 50 fF </a:t>
            </a:r>
            <a:r>
              <a:rPr lang="el-GR">
                <a:solidFill>
                  <a:schemeClr val="accent4"/>
                </a:solidFill>
              </a:rPr>
              <a:t>με σταθερά: </a:t>
            </a:r>
            <a:r>
              <a:rPr lang="el-GR" b="1">
                <a:solidFill>
                  <a:schemeClr val="accent4"/>
                </a:solidFill>
              </a:rPr>
              <a:t>Kcrit = 1.8, VDD = 2.5V, fCLK = 1 GHz</a:t>
            </a:r>
            <a:endParaRPr lang="el-GR">
              <a:solidFill>
                <a:schemeClr val="accent4"/>
              </a:solidFill>
            </a:endParaRPr>
          </a:p>
          <a:p>
            <a:endParaRPr lang="el-GR"/>
          </a:p>
        </p:txBody>
      </p: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DAF2AD2E-7588-D13F-ACD7-955D77C1C2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871361"/>
              </p:ext>
            </p:extLst>
          </p:nvPr>
        </p:nvGraphicFramePr>
        <p:xfrm>
          <a:off x="475488" y="3429000"/>
          <a:ext cx="8798160" cy="281939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99540">
                  <a:extLst>
                    <a:ext uri="{9D8B030D-6E8A-4147-A177-3AD203B41FA5}">
                      <a16:colId xmlns:a16="http://schemas.microsoft.com/office/drawing/2014/main" val="1002230744"/>
                    </a:ext>
                  </a:extLst>
                </a:gridCol>
                <a:gridCol w="2199540">
                  <a:extLst>
                    <a:ext uri="{9D8B030D-6E8A-4147-A177-3AD203B41FA5}">
                      <a16:colId xmlns:a16="http://schemas.microsoft.com/office/drawing/2014/main" val="2399930935"/>
                    </a:ext>
                  </a:extLst>
                </a:gridCol>
                <a:gridCol w="2199540">
                  <a:extLst>
                    <a:ext uri="{9D8B030D-6E8A-4147-A177-3AD203B41FA5}">
                      <a16:colId xmlns:a16="http://schemas.microsoft.com/office/drawing/2014/main" val="3069339915"/>
                    </a:ext>
                  </a:extLst>
                </a:gridCol>
                <a:gridCol w="2199540">
                  <a:extLst>
                    <a:ext uri="{9D8B030D-6E8A-4147-A177-3AD203B41FA5}">
                      <a16:colId xmlns:a16="http://schemas.microsoft.com/office/drawing/2014/main" val="2212501357"/>
                    </a:ext>
                  </a:extLst>
                </a:gridCol>
              </a:tblGrid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CL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Worst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Pavg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PDP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5163430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 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74.49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48.12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3.585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038626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2 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78.38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50.12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3.928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477241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 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56.34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4.985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3414913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10 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104.33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66.91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6.980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3921323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20 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140.74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87.97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12.38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8426226"/>
                  </a:ext>
                </a:extLst>
              </a:tr>
              <a:tr h="402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50 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246.23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150.52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37.06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613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36641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0364119-B391-9555-AC2C-2C41A33E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1550989"/>
          </a:xfrm>
        </p:spPr>
        <p:txBody>
          <a:bodyPr>
            <a:normAutofit/>
          </a:bodyPr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Output Load Sweep – CL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 </a:t>
            </a:r>
            <a:b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lang="el-GR">
                <a:solidFill>
                  <a:srgbClr val="F8931D"/>
                </a:solidFill>
                <a:latin typeface="Trebuchet MS" panose="020B0603020202020204"/>
              </a:rPr>
              <a:t>Συμπεράσματα 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3E25A39-9C7B-F341-3AE1-BADE6FD29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CL ↑ → tCQ ↑, Pavg ↑, PDP ↑</a:t>
            </a:r>
            <a:endParaRPr lang="el-GR">
              <a:solidFill>
                <a:schemeClr val="accent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αύξηση του φορτίου επηρεάζει κυρίως το τελικό output stage, ενώ οι εσωτερικές καθυστερήσεις παραμένουν σχεδόν σταθερές: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CLK → Y ≈ 33.2 ps  CLK → QBAR ≈ 59.3 ps</a:t>
            </a:r>
            <a:endParaRPr lang="el-GR">
              <a:solidFill>
                <a:schemeClr val="accent4"/>
              </a:solidFill>
            </a:endParaRPr>
          </a:p>
          <a:p>
            <a:endParaRPr lang="el-GR"/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592734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9A41429B-FA3B-3F69-A8CC-425B40AF4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Output Load Sweep – CL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: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Schematic 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D6CABA44-AA86-3680-687D-91D411EE52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342" y="2034522"/>
            <a:ext cx="9429834" cy="4197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161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40A9F78-CF86-E0CD-DCFA-2229F450C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Frequency Characterization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84D2073C-E20E-4364-57BB-5D715A8ED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0717"/>
            <a:ext cx="8596668" cy="388077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Kcrit = 1.8 | VDD = 2.5 V | CL = 5 fF | fCLK = 0.5–3 GHz</a:t>
            </a:r>
            <a:endParaRPr lang="en-US">
              <a:solidFill>
                <a:schemeClr val="accent4"/>
              </a:solidFill>
            </a:endParaRPr>
          </a:p>
          <a:p>
            <a:endParaRPr lang="el-GR"/>
          </a:p>
        </p:txBody>
      </p:sp>
      <p:graphicFrame>
        <p:nvGraphicFramePr>
          <p:cNvPr id="4" name="Πίνακας 3">
            <a:extLst>
              <a:ext uri="{FF2B5EF4-FFF2-40B4-BE49-F238E27FC236}">
                <a16:creationId xmlns:a16="http://schemas.microsoft.com/office/drawing/2014/main" id="{57490DA7-6F3E-D370-E459-06EA858C43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36187"/>
              </p:ext>
            </p:extLst>
          </p:nvPr>
        </p:nvGraphicFramePr>
        <p:xfrm>
          <a:off x="677334" y="2444496"/>
          <a:ext cx="8596311" cy="3291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865437">
                  <a:extLst>
                    <a:ext uri="{9D8B030D-6E8A-4147-A177-3AD203B41FA5}">
                      <a16:colId xmlns:a16="http://schemas.microsoft.com/office/drawing/2014/main" val="421152412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132487232"/>
                    </a:ext>
                  </a:extLst>
                </a:gridCol>
                <a:gridCol w="2865437">
                  <a:extLst>
                    <a:ext uri="{9D8B030D-6E8A-4147-A177-3AD203B41FA5}">
                      <a16:colId xmlns:a16="http://schemas.microsoft.com/office/drawing/2014/main" val="2803659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fCLK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Worst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Pavg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36827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0.50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88.50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28.92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091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0.75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88.49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43.25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0842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1.00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57.80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1625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1.25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88.47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72.30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785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1.50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88.46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86.69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756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2.00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88.44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115.29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8109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2.50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88.42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143.32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64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3.00 GHz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88.40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/>
                        <a:t>170.30 μW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38096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D83CCB1-392D-C429-98A4-8A1E6B09AFCC}"/>
              </a:ext>
            </a:extLst>
          </p:cNvPr>
          <p:cNvSpPr txBox="1"/>
          <p:nvPr/>
        </p:nvSpPr>
        <p:spPr>
          <a:xfrm>
            <a:off x="576072" y="5776252"/>
            <a:ext cx="61020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400" b="1">
                <a:solidFill>
                  <a:schemeClr val="accent4"/>
                </a:solidFill>
              </a:rPr>
              <a:t>Worst-case tCQ remains practically constant at ≈ 88.4–88.5 ps over the entire tested frequency range.</a:t>
            </a:r>
            <a:endParaRPr lang="el-GR" sz="1400">
              <a:solidFill>
                <a:schemeClr val="accent4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1400" b="1">
                <a:solidFill>
                  <a:schemeClr val="accent4"/>
                </a:solidFill>
              </a:rPr>
              <a:t>Average power increases approximately linearly with clock frequency due to dynamic switching power.</a:t>
            </a:r>
            <a:endParaRPr lang="el-GR" sz="140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210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2660801-AB0B-C41B-5146-81270D4A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Frequency Characterization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: 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Worst Tcq fCLK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354A5AC3-4C46-EA4E-846B-5BC1F3B70A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60588"/>
            <a:ext cx="7363967" cy="43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151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07D7FE62-0EE6-FA52-260F-86C55BE1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l-GR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Frequency Characterization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 : 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Average Power fCLK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B0D0F66D-2659-78FF-20F1-2ED1F2DE4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261339"/>
            <a:ext cx="7028010" cy="418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915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577A8F6-EE22-A10F-CB07-ECCE6769D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2"/>
                </a:solidFill>
              </a:rPr>
              <a:t>VDD SWEEP CHARACTERIZATION</a:t>
            </a:r>
            <a:endParaRPr lang="el-GR">
              <a:solidFill>
                <a:schemeClr val="accent2"/>
              </a:solidFill>
            </a:endParaRP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4D4F3935-EE88-A036-0B41-120A7BFA78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7717201"/>
              </p:ext>
            </p:extLst>
          </p:nvPr>
        </p:nvGraphicFramePr>
        <p:xfrm>
          <a:off x="341376" y="2288761"/>
          <a:ext cx="9314688" cy="26388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552448">
                  <a:extLst>
                    <a:ext uri="{9D8B030D-6E8A-4147-A177-3AD203B41FA5}">
                      <a16:colId xmlns:a16="http://schemas.microsoft.com/office/drawing/2014/main" val="2458197063"/>
                    </a:ext>
                  </a:extLst>
                </a:gridCol>
                <a:gridCol w="1552448">
                  <a:extLst>
                    <a:ext uri="{9D8B030D-6E8A-4147-A177-3AD203B41FA5}">
                      <a16:colId xmlns:a16="http://schemas.microsoft.com/office/drawing/2014/main" val="345156703"/>
                    </a:ext>
                  </a:extLst>
                </a:gridCol>
                <a:gridCol w="1552448">
                  <a:extLst>
                    <a:ext uri="{9D8B030D-6E8A-4147-A177-3AD203B41FA5}">
                      <a16:colId xmlns:a16="http://schemas.microsoft.com/office/drawing/2014/main" val="1876322605"/>
                    </a:ext>
                  </a:extLst>
                </a:gridCol>
                <a:gridCol w="1552448">
                  <a:extLst>
                    <a:ext uri="{9D8B030D-6E8A-4147-A177-3AD203B41FA5}">
                      <a16:colId xmlns:a16="http://schemas.microsoft.com/office/drawing/2014/main" val="648691546"/>
                    </a:ext>
                  </a:extLst>
                </a:gridCol>
                <a:gridCol w="1552448">
                  <a:extLst>
                    <a:ext uri="{9D8B030D-6E8A-4147-A177-3AD203B41FA5}">
                      <a16:colId xmlns:a16="http://schemas.microsoft.com/office/drawing/2014/main" val="82208292"/>
                    </a:ext>
                  </a:extLst>
                </a:gridCol>
                <a:gridCol w="1552448">
                  <a:extLst>
                    <a:ext uri="{9D8B030D-6E8A-4147-A177-3AD203B41FA5}">
                      <a16:colId xmlns:a16="http://schemas.microsoft.com/office/drawing/2014/main" val="2958633716"/>
                    </a:ext>
                  </a:extLst>
                </a:gridCol>
              </a:tblGrid>
              <a:tr h="527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VDD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tCQ,LH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tCQ,HL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Worst tCQ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Pavg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PDP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0329023"/>
                  </a:ext>
                </a:extLst>
              </a:tr>
              <a:tr h="527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2.00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104.72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108.17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 b="1"/>
                        <a:t>108.17 ps</a:t>
                      </a:r>
                      <a:endParaRPr lang="el-G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35.98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3.892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847995"/>
                  </a:ext>
                </a:extLst>
              </a:tr>
              <a:tr h="527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2.25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92.89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96.76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 b="1"/>
                        <a:t>96.76 ps</a:t>
                      </a:r>
                      <a:endParaRPr lang="el-G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46.14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4.464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2283980"/>
                  </a:ext>
                </a:extLst>
              </a:tr>
              <a:tr h="527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2.50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84.44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88.48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 b="1"/>
                        <a:t>88.48 ps</a:t>
                      </a:r>
                      <a:endParaRPr lang="el-G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57.80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5.114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051029"/>
                  </a:ext>
                </a:extLst>
              </a:tr>
              <a:tr h="5277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2.75 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78.12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82.20 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 b="1"/>
                        <a:t>82.20 ps</a:t>
                      </a:r>
                      <a:endParaRPr lang="el-GR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71.03 μW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800"/>
                        <a:t>5.839 fJ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3138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87083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1DFA058C-50B2-9410-0E4F-52AAA693A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VDD SWEEP CHARACTERIZATION :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Worst Tcq – VDD 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33E1FD07-4BC5-41DC-8166-745954AFA5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160588"/>
            <a:ext cx="7383258" cy="439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669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F56F34B-A442-D262-081A-3DF3254D9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VDD SWEEP CHARACTERIZATION </a:t>
            </a: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Average Power – VDD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56E39431-C38F-20F3-7A8E-C3032E7A2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1930400"/>
            <a:ext cx="7741920" cy="460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262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D33A2B4A-A689-0FA9-D862-BF63A5606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VDD SWEEP CHARACTERIZATION : </a:t>
            </a:r>
            <a:b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PDP – VDD </a:t>
            </a:r>
            <a:endParaRPr lang="el-GR"/>
          </a:p>
        </p:txBody>
      </p:sp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41117B51-782B-74D3-1FCD-4154865E9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334" y="2366963"/>
            <a:ext cx="7015818" cy="417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3015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6FF6848-60A8-9532-F9C8-BD8F49FEF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VDD SWEEP CHARACTERIZATION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:</a:t>
            </a:r>
            <a:br>
              <a:rPr kumimoji="0" lang="el-GR" sz="32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</a:br>
            <a:r>
              <a:rPr kumimoji="0" lang="el-GR" sz="3200" b="0" i="0" u="none" strike="noStrike" kern="1200" cap="none" spc="0" normalizeH="0" baseline="0" noProof="0">
                <a:ln>
                  <a:noFill/>
                </a:ln>
                <a:solidFill>
                  <a:srgbClr val="F8931D"/>
                </a:solidFill>
                <a:effectLst/>
                <a:uLnTx/>
                <a:uFillTx/>
                <a:latin typeface="Trebuchet MS" panose="020B0603020202020204"/>
                <a:ea typeface="+mj-ea"/>
                <a:cs typeface="+mj-cs"/>
              </a:rPr>
              <a:t>Αποτελέσματα </a:t>
            </a:r>
            <a:endParaRPr lang="el-GR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E4C85C5B-3058-B749-3D15-0FD728CAE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893386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b="1">
              <a:solidFill>
                <a:schemeClr val="accent4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Συνθήκες: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b="1">
                <a:solidFill>
                  <a:schemeClr val="accent4"/>
                </a:solidFill>
              </a:rPr>
              <a:t>Kcrit = 1.8 | CL = 5 fF | fCLK = 1 GHz | VDD = 2.0–2.75 V</a:t>
            </a:r>
            <a:endParaRPr lang="el-GR">
              <a:solidFill>
                <a:schemeClr val="accent4"/>
              </a:solidFill>
            </a:endParaRP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Η αύξηση του </a:t>
            </a:r>
            <a:r>
              <a:rPr lang="el-GR" b="1">
                <a:solidFill>
                  <a:schemeClr val="accent4"/>
                </a:solidFill>
              </a:rPr>
              <a:t>VDD μειώνει το clock-to-Q delay</a:t>
            </a:r>
            <a:r>
              <a:rPr lang="el-GR">
                <a:solidFill>
                  <a:schemeClr val="accent4"/>
                </a:solidFill>
              </a:rPr>
              <a:t>, λόγω μεγαλύτερου drive current των MOSFET.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worst-case tCQ μειώθηκε από </a:t>
            </a:r>
            <a:r>
              <a:rPr lang="el-GR" b="1">
                <a:solidFill>
                  <a:schemeClr val="accent4"/>
                </a:solidFill>
              </a:rPr>
              <a:t>108.17 ps στα 2.0 V</a:t>
            </a:r>
            <a:r>
              <a:rPr lang="el-GR">
                <a:solidFill>
                  <a:schemeClr val="accent4"/>
                </a:solidFill>
              </a:rPr>
              <a:t> σε </a:t>
            </a:r>
            <a:r>
              <a:rPr lang="el-GR" b="1">
                <a:solidFill>
                  <a:schemeClr val="accent4"/>
                </a:solidFill>
              </a:rPr>
              <a:t>82.20 ps στα 2.75 V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Παράλληλα, η μέση ισχύς αυξήθηκε από </a:t>
            </a:r>
            <a:r>
              <a:rPr lang="el-GR" b="1">
                <a:solidFill>
                  <a:schemeClr val="accent4"/>
                </a:solidFill>
              </a:rPr>
              <a:t>35.98 μW</a:t>
            </a:r>
            <a:r>
              <a:rPr lang="el-GR">
                <a:solidFill>
                  <a:schemeClr val="accent4"/>
                </a:solidFill>
              </a:rPr>
              <a:t> σε </a:t>
            </a:r>
            <a:r>
              <a:rPr lang="el-GR" b="1">
                <a:solidFill>
                  <a:schemeClr val="accent4"/>
                </a:solidFill>
              </a:rPr>
              <a:t>71.03 μW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Επομένως, η αύξηση του VDD βελτιώνει την ταχύτητα αλλά επιβαρύνει σημαντικά την κατανάλωση.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779835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FC70F6F9-0BD7-7046-3E67-74FF667A1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Final Performance Summary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C4BE9500-2F32-CCF6-6698-2AAEA76275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0647715"/>
              </p:ext>
            </p:extLst>
          </p:nvPr>
        </p:nvGraphicFramePr>
        <p:xfrm>
          <a:off x="677334" y="1580058"/>
          <a:ext cx="7808298" cy="389644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904149">
                  <a:extLst>
                    <a:ext uri="{9D8B030D-6E8A-4147-A177-3AD203B41FA5}">
                      <a16:colId xmlns:a16="http://schemas.microsoft.com/office/drawing/2014/main" val="4006999833"/>
                    </a:ext>
                  </a:extLst>
                </a:gridCol>
                <a:gridCol w="3904149">
                  <a:extLst>
                    <a:ext uri="{9D8B030D-6E8A-4147-A177-3AD203B41FA5}">
                      <a16:colId xmlns:a16="http://schemas.microsoft.com/office/drawing/2014/main" val="2722162279"/>
                    </a:ext>
                  </a:extLst>
                </a:gridCol>
              </a:tblGrid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Παράμετρος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Τελικό αποτέλεσμα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16028251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Technology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CMOS 0.25 μm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005003757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VDD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2.5 V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1012681042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CL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5 fF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1866003813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Kcrit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1.8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347186986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tCQ,LH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84.44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3084578966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tCQ,HL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88.48 ps</a:t>
                      </a:r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894180220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Worst-case tCQ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b="1"/>
                        <a:t>88.48 ps</a:t>
                      </a:r>
                      <a:endParaRPr lang="el-GR" sz="160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550882236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Average Power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b="1"/>
                        <a:t>56.34 μW</a:t>
                      </a:r>
                      <a:endParaRPr lang="el-GR" sz="160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849663111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PDP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b="1"/>
                        <a:t>4.985 fJ</a:t>
                      </a:r>
                      <a:endParaRPr lang="el-GR" sz="160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507866494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Setup time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b="1"/>
                        <a:t>≈ −5.2 ps</a:t>
                      </a:r>
                      <a:endParaRPr lang="el-GR" sz="160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298734428"/>
                  </a:ext>
                </a:extLst>
              </a:tr>
              <a:tr h="25339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/>
                        <a:t>Verified frequency range</a:t>
                      </a:r>
                    </a:p>
                  </a:txBody>
                  <a:tcPr marL="80863" marR="80863" marT="40432" marB="40432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600" b="1"/>
                        <a:t>0.5–3 GHz</a:t>
                      </a:r>
                      <a:endParaRPr lang="el-GR" sz="1600"/>
                    </a:p>
                  </a:txBody>
                  <a:tcPr marL="80863" marR="80863" marT="40432" marB="40432" anchor="ctr"/>
                </a:tc>
                <a:extLst>
                  <a:ext uri="{0D108BD9-81ED-4DB2-BD59-A6C34878D82A}">
                    <a16:rowId xmlns:a16="http://schemas.microsoft.com/office/drawing/2014/main" val="17744923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19F534-08A7-389D-7834-DF2D3BF0EFDA}"/>
              </a:ext>
            </a:extLst>
          </p:cNvPr>
          <p:cNvSpPr txBox="1"/>
          <p:nvPr/>
        </p:nvSpPr>
        <p:spPr>
          <a:xfrm>
            <a:off x="588264" y="5636627"/>
            <a:ext cx="610209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l-GR" b="1">
                <a:solidFill>
                  <a:schemeClr val="accent4"/>
                </a:solidFill>
              </a:rPr>
              <a:t>Baseline → Optimized</a:t>
            </a:r>
            <a:endParaRPr lang="el-GR">
              <a:solidFill>
                <a:schemeClr val="accent4"/>
              </a:solidFill>
            </a:endParaRPr>
          </a:p>
          <a:p>
            <a:pPr>
              <a:buNone/>
            </a:pPr>
            <a:r>
              <a:rPr lang="el-GR" b="1">
                <a:solidFill>
                  <a:schemeClr val="accent4"/>
                </a:solidFill>
              </a:rPr>
              <a:t>tCQ: 117.21 ps → 88.48 ps | −24.5%</a:t>
            </a:r>
            <a:endParaRPr lang="el-GR">
              <a:solidFill>
                <a:schemeClr val="accent4"/>
              </a:solidFill>
            </a:endParaRPr>
          </a:p>
          <a:p>
            <a:pPr>
              <a:buNone/>
            </a:pPr>
            <a:r>
              <a:rPr lang="el-GR" b="1">
                <a:solidFill>
                  <a:schemeClr val="accent4"/>
                </a:solidFill>
              </a:rPr>
              <a:t>PDP: 5.514 fJ → 4.985 fJ | −9.6%</a:t>
            </a:r>
            <a:endParaRPr lang="el-GR">
              <a:solidFill>
                <a:schemeClr val="accent4"/>
              </a:solidFill>
            </a:endParaRPr>
          </a:p>
          <a:p>
            <a:pPr>
              <a:buNone/>
            </a:pPr>
            <a:r>
              <a:rPr lang="el-GR" b="1">
                <a:solidFill>
                  <a:schemeClr val="accent4"/>
                </a:solidFill>
              </a:rPr>
              <a:t>Pavg: 47.04 μW → 56.34 μW | +19.8%</a:t>
            </a:r>
            <a:endParaRPr lang="el-G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594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4FD8E0E-28A4-BD9A-0316-572368027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>
                <a:solidFill>
                  <a:schemeClr val="accent2"/>
                </a:solidFill>
              </a:rPr>
              <a:t>Conclusions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5F4D9128-15D0-8627-E758-E6147FF41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93824"/>
            <a:ext cx="8596668" cy="3880773"/>
          </a:xfrm>
        </p:spPr>
        <p:txBody>
          <a:bodyPr/>
          <a:lstStyle/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Σχεδιάστηκε και προσομοιώθηκε ένα </a:t>
            </a:r>
            <a:r>
              <a:rPr lang="el-GR" b="1">
                <a:solidFill>
                  <a:schemeClr val="accent4"/>
                </a:solidFill>
              </a:rPr>
              <a:t>11-transistor TSPC D Flip-Flop</a:t>
            </a:r>
            <a:r>
              <a:rPr lang="el-GR">
                <a:solidFill>
                  <a:schemeClr val="accent4"/>
                </a:solidFill>
              </a:rPr>
              <a:t> σε CMOS 0.25 μm.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Μέσω </a:t>
            </a:r>
            <a:r>
              <a:rPr lang="el-GR" b="1">
                <a:solidFill>
                  <a:schemeClr val="accent4"/>
                </a:solidFill>
              </a:rPr>
              <a:t>critical-path analysis</a:t>
            </a:r>
            <a:r>
              <a:rPr lang="el-GR">
                <a:solidFill>
                  <a:schemeClr val="accent4"/>
                </a:solidFill>
              </a:rPr>
              <a:t> εντοπίστηκαν τα τρανζίστορ που επηρεάζουν περισσότερο το clock-to-Q delay.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Με selective transistor sizing επιλέχθηκε </a:t>
            </a:r>
            <a:r>
              <a:rPr lang="el-GR" b="1">
                <a:solidFill>
                  <a:schemeClr val="accent4"/>
                </a:solidFill>
              </a:rPr>
              <a:t>Kcrit = 1.8</a:t>
            </a:r>
            <a:r>
              <a:rPr lang="el-GR">
                <a:solidFill>
                  <a:schemeClr val="accent4"/>
                </a:solidFill>
              </a:rPr>
              <a:t>, ως καλύτερος συμβιβασμός μεταξύ ταχύτητας και κατανάλωσης.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worst-case tCQ μειώθηκε κατά περίπου </a:t>
            </a:r>
            <a:r>
              <a:rPr lang="el-GR" b="1">
                <a:solidFill>
                  <a:schemeClr val="accent4"/>
                </a:solidFill>
              </a:rPr>
              <a:t>24.5%</a:t>
            </a:r>
            <a:r>
              <a:rPr lang="el-GR">
                <a:solidFill>
                  <a:schemeClr val="accent4"/>
                </a:solidFill>
              </a:rPr>
              <a:t>, ενώ το PDP βελτιώθηκε κατά περίπου </a:t>
            </a:r>
            <a:r>
              <a:rPr lang="el-GR" b="1">
                <a:solidFill>
                  <a:schemeClr val="accent4"/>
                </a:solidFill>
              </a:rPr>
              <a:t>9.6%</a:t>
            </a:r>
            <a:r>
              <a:rPr lang="el-GR">
                <a:solidFill>
                  <a:schemeClr val="accent4"/>
                </a:solidFill>
              </a:rPr>
              <a:t>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l-GR">
                <a:solidFill>
                  <a:schemeClr val="accent4"/>
                </a:solidFill>
              </a:rPr>
              <a:t>Το optimized κύκλωμα παρουσίασε σωστή λειτουργία σε όλο το εξεταζόμενο εύρος </a:t>
            </a:r>
            <a:r>
              <a:rPr lang="el-GR" b="1">
                <a:solidFill>
                  <a:schemeClr val="accent4"/>
                </a:solidFill>
              </a:rPr>
              <a:t>0.5–3 GHz</a:t>
            </a:r>
            <a:r>
              <a:rPr lang="el-GR">
                <a:solidFill>
                  <a:schemeClr val="accent4"/>
                </a:solidFill>
              </a:rPr>
              <a:t>, ενώ τα load και VDD sweeps επιβεβαίωσαν τις αναμενόμενες speed–power trade-offs.</a:t>
            </a:r>
          </a:p>
          <a:p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245929633"/>
      </p:ext>
    </p:extLst>
  </p:cSld>
  <p:clrMapOvr>
    <a:masterClrMapping/>
  </p:clrMapOvr>
</p:sld>
</file>

<file path=ppt/theme/theme1.xml><?xml version="1.0" encoding="utf-8"?>
<a:theme xmlns:a="http://schemas.openxmlformats.org/drawingml/2006/main" name="Όψη">
  <a:themeElements>
    <a:clrScheme name="Κίτρινο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2009</Words>
  <Application>Microsoft Office PowerPoint</Application>
  <PresentationFormat>Ευρεία οθόνη</PresentationFormat>
  <Paragraphs>434</Paragraphs>
  <Slides>40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40</vt:i4>
      </vt:variant>
    </vt:vector>
  </HeadingPairs>
  <TitlesOfParts>
    <vt:vector size="45" baseType="lpstr">
      <vt:lpstr>Arial</vt:lpstr>
      <vt:lpstr>Trebuchet MS</vt:lpstr>
      <vt:lpstr>Wingdings</vt:lpstr>
      <vt:lpstr>Wingdings 3</vt:lpstr>
      <vt:lpstr>Όψη</vt:lpstr>
      <vt:lpstr>ΗΛΕΚΤΡΟΝΙΚΑ ΥΨΗΛΩΝ ΤΑΧΥΤΗΤΩΝ   ΑΤΟΜΙΚΟ PROJECT  ΥΛΟΠΟΙΗΣΗ HIGH SPEED FLIP FLOP     </vt:lpstr>
      <vt:lpstr> ΕΙΣΑΓΩΓΗ </vt:lpstr>
      <vt:lpstr>Επιλογή Αρχιτεκτονικής – Γιατί TSPC;</vt:lpstr>
      <vt:lpstr>Επιλογή Αρχιτεκτονικής – Γιατί TSPC;</vt:lpstr>
      <vt:lpstr>Αρχιτεκτονική TSPC D Flip-Flop</vt:lpstr>
      <vt:lpstr>Αρχιτεκτονική TSPC D Flip-Flop – Schematic </vt:lpstr>
      <vt:lpstr>Τεχνολογία και Συνθήκες Προσομοίωσης</vt:lpstr>
      <vt:lpstr>Baseline Simulation – Αρχική Υλοποίηση</vt:lpstr>
      <vt:lpstr>D – CLK – Q  SCHEMATIC </vt:lpstr>
      <vt:lpstr>Critical Path Analysis</vt:lpstr>
      <vt:lpstr>Coarse Transistor Sizing Sweep</vt:lpstr>
      <vt:lpstr>Coarse Transistor Sizing Sweep : Schematics</vt:lpstr>
      <vt:lpstr>Coarse Transistor Sizing Sweep : Schematics</vt:lpstr>
      <vt:lpstr>Coarse Transistor Sizing Sweep : Worst_tCQ – Kcrit Diagram</vt:lpstr>
      <vt:lpstr>Coarse Transistor Sizing Sweep :  Συμπεράσματα </vt:lpstr>
      <vt:lpstr>Fine Transistor Sizing Sweep</vt:lpstr>
      <vt:lpstr>Fine Transistor Sizing Sweep : Schematic  </vt:lpstr>
      <vt:lpstr>Fine Transistor Sizing Sweep :  Συμπεράσματα </vt:lpstr>
      <vt:lpstr>Fine Transistor Sizing Sweep :  PDP – Kcrit Diagram</vt:lpstr>
      <vt:lpstr>Optimized Design – Kcrit = 1.8</vt:lpstr>
      <vt:lpstr>Optimized Design – Kcrit = 1.8</vt:lpstr>
      <vt:lpstr>Optimized Design – Kcrit = 1.8 :  Schematic </vt:lpstr>
      <vt:lpstr>Σύγκριση Baseline – Optimized (Kcrit = 1.8)</vt:lpstr>
      <vt:lpstr>Setup Time Characterization</vt:lpstr>
      <vt:lpstr>Setup Time Characterization</vt:lpstr>
      <vt:lpstr>Tsetup – Tcq delay sweep Schematic Results </vt:lpstr>
      <vt:lpstr>Tsetup – Tcq delay sweep Schematic Results </vt:lpstr>
      <vt:lpstr>Output Load Sweep – CL</vt:lpstr>
      <vt:lpstr>Output Load Sweep – CL :  Συμπεράσματα </vt:lpstr>
      <vt:lpstr>Output Load Sweep – CL  :  Schematic </vt:lpstr>
      <vt:lpstr>Frequency Characterization</vt:lpstr>
      <vt:lpstr>Frequency Characterization :   Worst Tcq fCLK</vt:lpstr>
      <vt:lpstr>Frequency Characterization :   Average Power fCLK</vt:lpstr>
      <vt:lpstr>VDD SWEEP CHARACTERIZATION</vt:lpstr>
      <vt:lpstr>VDD SWEEP CHARACTERIZATION :  Worst Tcq – VDD </vt:lpstr>
      <vt:lpstr>VDD SWEEP CHARACTERIZATION : Average Power – VDD   </vt:lpstr>
      <vt:lpstr>VDD SWEEP CHARACTERIZATION :  PDP – VDD </vt:lpstr>
      <vt:lpstr>VDD SWEEP CHARACTERIZATION : Αποτελέσματα </vt:lpstr>
      <vt:lpstr>Final Performance Summary</vt:lpstr>
      <vt:lpstr>Conclusions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ΑΝΑΣΤΟΠΟΥΛΟΣ ΑΠΟΛΛΩΝ-ΑΛΕΞΑΝΔΡΟΣ</cp:lastModifiedBy>
  <cp:revision>84</cp:revision>
  <dcterms:created xsi:type="dcterms:W3CDTF">2013-01-27T09:14:16Z</dcterms:created>
  <dcterms:modified xsi:type="dcterms:W3CDTF">2026-09-30T19:23:00Z</dcterms:modified>
  <cp:category/>
</cp:coreProperties>
</file>