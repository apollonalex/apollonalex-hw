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257" r:id="rId2"/>
    <p:sldId id="256" r:id="rId3"/>
    <p:sldId id="288" r:id="rId4"/>
    <p:sldId id="287" r:id="rId5"/>
    <p:sldId id="307" r:id="rId6"/>
    <p:sldId id="339" r:id="rId7"/>
    <p:sldId id="308" r:id="rId8"/>
    <p:sldId id="309" r:id="rId9"/>
    <p:sldId id="340" r:id="rId10"/>
    <p:sldId id="310" r:id="rId11"/>
    <p:sldId id="311" r:id="rId12"/>
    <p:sldId id="312" r:id="rId13"/>
    <p:sldId id="313" r:id="rId14"/>
    <p:sldId id="314" r:id="rId15"/>
    <p:sldId id="315" r:id="rId16"/>
    <p:sldId id="338" r:id="rId17"/>
    <p:sldId id="319" r:id="rId18"/>
    <p:sldId id="292" r:id="rId19"/>
    <p:sldId id="316" r:id="rId20"/>
    <p:sldId id="289" r:id="rId21"/>
    <p:sldId id="317" r:id="rId22"/>
    <p:sldId id="290" r:id="rId23"/>
    <p:sldId id="293" r:id="rId24"/>
    <p:sldId id="318" r:id="rId25"/>
    <p:sldId id="298" r:id="rId26"/>
    <p:sldId id="299" r:id="rId27"/>
    <p:sldId id="301" r:id="rId28"/>
    <p:sldId id="302" r:id="rId29"/>
    <p:sldId id="300" r:id="rId30"/>
    <p:sldId id="296" r:id="rId31"/>
    <p:sldId id="297" r:id="rId32"/>
    <p:sldId id="303" r:id="rId33"/>
    <p:sldId id="332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267" r:id="rId46"/>
    <p:sldId id="262" r:id="rId47"/>
    <p:sldId id="341" r:id="rId48"/>
    <p:sldId id="268" r:id="rId49"/>
    <p:sldId id="269" r:id="rId50"/>
    <p:sldId id="270" r:id="rId51"/>
    <p:sldId id="333" r:id="rId52"/>
    <p:sldId id="334" r:id="rId53"/>
    <p:sldId id="335" r:id="rId54"/>
    <p:sldId id="336" r:id="rId55"/>
    <p:sldId id="337" r:id="rId56"/>
    <p:sldId id="306" r:id="rId5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C9705-7675-4209-A78D-27EB7D4C7321}" type="datetimeFigureOut">
              <a:rPr lang="el-GR" smtClean="0"/>
              <a:t>26/2/2026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E9E6F-FFAE-4ED1-A92D-B06041A2A8D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0734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1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9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6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0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1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2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4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83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32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92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659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9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18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17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1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A643A83-A33F-A7FB-7506-38570EF25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40" y="3263688"/>
            <a:ext cx="6839928" cy="3808178"/>
          </a:xfrm>
        </p:spPr>
        <p:txBody>
          <a:bodyPr/>
          <a:lstStyle/>
          <a:p>
            <a:pPr algn="l" rtl="0">
              <a:buNone/>
            </a:pPr>
            <a:r>
              <a:rPr lang="el-GR" sz="3200" b="1">
                <a:solidFill>
                  <a:schemeClr val="accent4"/>
                </a:solidFill>
              </a:rPr>
              <a:t>Σχεδιασμός Ολοκληρωμένων Συστημάτων VLSI-II</a:t>
            </a:r>
            <a:r>
              <a:rPr lang="en-US" sz="3200" b="1">
                <a:solidFill>
                  <a:schemeClr val="accent4"/>
                </a:solidFill>
              </a:rPr>
              <a:t>I</a:t>
            </a:r>
            <a:br>
              <a:rPr lang="en-US" sz="3200" b="1">
                <a:solidFill>
                  <a:schemeClr val="accent4"/>
                </a:solidFill>
              </a:rPr>
            </a:br>
            <a:br>
              <a:rPr lang="el-GR" sz="3200">
                <a:solidFill>
                  <a:schemeClr val="accent4"/>
                </a:solidFill>
              </a:rPr>
            </a:br>
            <a:r>
              <a:rPr lang="el-GR" sz="3200" b="1">
                <a:solidFill>
                  <a:schemeClr val="accent4"/>
                </a:solidFill>
              </a:rPr>
              <a:t>ΟΜΑΔΙΚΟ PROJECT</a:t>
            </a:r>
            <a:br>
              <a:rPr lang="en-US" sz="3200" b="1">
                <a:solidFill>
                  <a:schemeClr val="accent4"/>
                </a:solidFill>
              </a:rPr>
            </a:br>
            <a:br>
              <a:rPr lang="en-US" sz="3200" b="1">
                <a:solidFill>
                  <a:schemeClr val="accent4"/>
                </a:solidFill>
              </a:rPr>
            </a:br>
            <a:r>
              <a:rPr lang="en-US" sz="2400" b="1" i="0"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PICCOLO : An Ultra-Lightweight Blockcipher</a:t>
            </a:r>
            <a:br>
              <a:rPr lang="en-US" sz="2400" b="0">
                <a:solidFill>
                  <a:schemeClr val="accent4"/>
                </a:solidFill>
                <a:effectLst/>
              </a:rPr>
            </a:br>
            <a:br>
              <a:rPr lang="en-US" sz="2400" b="0">
                <a:solidFill>
                  <a:schemeClr val="accent4"/>
                </a:solidFill>
                <a:effectLst/>
              </a:rPr>
            </a:br>
            <a:br>
              <a:rPr lang="el-GR" sz="2400">
                <a:solidFill>
                  <a:schemeClr val="accent4"/>
                </a:solidFill>
              </a:rPr>
            </a:br>
            <a:br>
              <a:rPr lang="el-GR" sz="3200">
                <a:solidFill>
                  <a:schemeClr val="accent4"/>
                </a:solidFill>
              </a:rPr>
            </a:br>
            <a:br>
              <a:rPr lang="en-US" sz="4000">
                <a:solidFill>
                  <a:schemeClr val="accent4"/>
                </a:solidFill>
              </a:rPr>
            </a:br>
            <a:endParaRPr lang="el-GR" sz="4000">
              <a:solidFill>
                <a:schemeClr val="accent4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233E9CD-B51A-85F7-BA8D-703956E80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640" y="5167777"/>
            <a:ext cx="7766936" cy="10968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Ομάδα εκπόνησης εργασίας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: </a:t>
            </a:r>
            <a:endParaRPr lang="el-GR" sz="3600">
              <a:solidFill>
                <a:srgbClr val="EC7016"/>
              </a:solidFill>
              <a:latin typeface="Trebuchet MS" panose="020B0603020202020204"/>
              <a:ea typeface="+mj-ea"/>
              <a:cs typeface="+mj-cs"/>
            </a:endParaRPr>
          </a:p>
          <a:p>
            <a:pPr algn="l"/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ΔΙΚΑΡΟΣ ΑΜ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:1092847</a:t>
            </a:r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 – ΑΝΑΣΤΟΠΟΥΛΟΣ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 </a:t>
            </a:r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ΑΜ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:1092621</a:t>
            </a:r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 </a:t>
            </a:r>
            <a:endParaRPr lang="el-GR" sz="3600"/>
          </a:p>
        </p:txBody>
      </p:sp>
    </p:spTree>
    <p:extLst>
      <p:ext uri="{BB962C8B-B14F-4D97-AF65-F5344CB8AC3E}">
        <p14:creationId xmlns:p14="http://schemas.microsoft.com/office/powerpoint/2010/main" val="1562739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803" y="1914144"/>
            <a:ext cx="9711437" cy="1819656"/>
          </a:xfrm>
        </p:spPr>
        <p:txBody>
          <a:bodyPr/>
          <a:lstStyle/>
          <a:p>
            <a:pPr algn="l"/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803" y="4843317"/>
            <a:ext cx="9814560" cy="886924"/>
          </a:xfrm>
        </p:spPr>
        <p:txBody>
          <a:bodyPr>
            <a:normAutofit/>
          </a:bodyPr>
          <a:lstStyle/>
          <a:p>
            <a:pPr algn="l"/>
            <a:r>
              <a:rPr lang="el-GR" sz="4000">
                <a:solidFill>
                  <a:srgbClr val="FFC000"/>
                </a:solidFill>
              </a:rPr>
              <a:t>	</a:t>
            </a:r>
            <a:r>
              <a:rPr lang="el-GR" sz="4000">
                <a:solidFill>
                  <a:schemeClr val="accent4"/>
                </a:solidFill>
              </a:rPr>
              <a:t>Θεωρητική Ανάλυση</a:t>
            </a:r>
            <a:r>
              <a:rPr lang="en-US" sz="4000">
                <a:solidFill>
                  <a:schemeClr val="accent4"/>
                </a:solidFill>
              </a:rPr>
              <a:t> </a:t>
            </a:r>
            <a:r>
              <a:rPr lang="el-GR" sz="4000">
                <a:solidFill>
                  <a:schemeClr val="accent4"/>
                </a:solidFill>
              </a:rPr>
              <a:t>Αλγορίθμου </a:t>
            </a:r>
            <a:endParaRPr sz="40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D024AF5-663C-427C-5601-A580B59E3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</a:t>
            </a:r>
            <a:endParaRPr lang="el-GR" dirty="0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E49DCE9-A07D-3BBF-6294-AFF1F7B11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46688"/>
          </a:xfrm>
        </p:spPr>
        <p:txBody>
          <a:bodyPr>
            <a:normAutofit fontScale="92500" lnSpcReduction="10000"/>
          </a:bodyPr>
          <a:lstStyle/>
          <a:p>
            <a:r>
              <a:rPr lang="el-GR" b="1">
                <a:solidFill>
                  <a:schemeClr val="accent2"/>
                </a:solidFill>
              </a:rPr>
              <a:t>Τύπος και Μέγεθος:</a:t>
            </a:r>
            <a:r>
              <a:rPr lang="el-GR">
                <a:solidFill>
                  <a:schemeClr val="accent2"/>
                </a:solidFill>
              </a:rPr>
              <a:t> Πρόκειται για έναν ultra-lightweight block cipher που επεξεργάζεται μπλοκ δεδομένων των 64 bit.</a:t>
            </a:r>
            <a:endParaRPr lang="en-US">
              <a:solidFill>
                <a:schemeClr val="accent2"/>
              </a:solidFill>
            </a:endParaRPr>
          </a:p>
          <a:p>
            <a:r>
              <a:rPr lang="el-GR" b="1">
                <a:solidFill>
                  <a:schemeClr val="accent2"/>
                </a:solidFill>
              </a:rPr>
              <a:t>Υποστήριξη Κλειδιών:</a:t>
            </a:r>
            <a:r>
              <a:rPr lang="el-GR">
                <a:solidFill>
                  <a:schemeClr val="accent2"/>
                </a:solidFill>
              </a:rPr>
              <a:t> Προσφέρει ευελιξία στην ασφάλεια υποστηρίζοντας δύο μεγέθη κλειδιών, 80 bit και 128 bit.</a:t>
            </a:r>
            <a:endParaRPr lang="en-US">
              <a:solidFill>
                <a:schemeClr val="accent2"/>
              </a:solidFill>
            </a:endParaRPr>
          </a:p>
          <a:p>
            <a:r>
              <a:rPr lang="el-GR" b="1">
                <a:solidFill>
                  <a:schemeClr val="accent2"/>
                </a:solidFill>
              </a:rPr>
              <a:t>Σχεδιαστικός Στόχος:</a:t>
            </a:r>
            <a:r>
              <a:rPr lang="el-GR">
                <a:solidFill>
                  <a:schemeClr val="accent2"/>
                </a:solidFill>
              </a:rPr>
              <a:t> Είναι βελτιστοποιημένος για περιβάλλοντα με εξαιρετικά περιορισμένους πόρους (constrained environments), όπως RFID tags και δίκτυα αισθητήρων.</a:t>
            </a:r>
            <a:endParaRPr lang="en-US">
              <a:solidFill>
                <a:schemeClr val="accent2"/>
              </a:solidFill>
            </a:endParaRPr>
          </a:p>
          <a:p>
            <a:r>
              <a:rPr lang="el-GR" b="1">
                <a:solidFill>
                  <a:schemeClr val="accent2"/>
                </a:solidFill>
              </a:rPr>
              <a:t>Αρχιτεκτονική Δομή:</a:t>
            </a:r>
            <a:r>
              <a:rPr lang="el-GR">
                <a:solidFill>
                  <a:schemeClr val="accent2"/>
                </a:solidFill>
              </a:rPr>
              <a:t> Βασίζεται σε μια παραλλαγή του Γενικευμένου Δικτύου Feistel (Generalized Feistel Network - GFN).</a:t>
            </a:r>
            <a:endParaRPr lang="en-US">
              <a:solidFill>
                <a:schemeClr val="accent2"/>
              </a:solidFill>
            </a:endParaRPr>
          </a:p>
          <a:p>
            <a:r>
              <a:rPr lang="el-GR" b="1">
                <a:solidFill>
                  <a:schemeClr val="accent2"/>
                </a:solidFill>
              </a:rPr>
              <a:t>Ασφάλεια και Ανθεκτικότητα:</a:t>
            </a:r>
            <a:r>
              <a:rPr lang="el-GR">
                <a:solidFill>
                  <a:schemeClr val="accent2"/>
                </a:solidFill>
              </a:rPr>
              <a:t> Σχεδιάστηκε ειδικά για να αντιμετωπίζει αδυναμίες παλαιότερων ελαφριών αλγορίθμων (όπως οι HIGHT και GOST)</a:t>
            </a:r>
            <a:r>
              <a:rPr lang="en-US">
                <a:solidFill>
                  <a:schemeClr val="accent2"/>
                </a:solidFill>
              </a:rPr>
              <a:t>.</a:t>
            </a:r>
          </a:p>
          <a:p>
            <a:r>
              <a:rPr lang="el-GR" b="1">
                <a:solidFill>
                  <a:schemeClr val="accent2"/>
                </a:solidFill>
              </a:rPr>
              <a:t>Πλεονεκτήματα Υλικού:</a:t>
            </a:r>
            <a:r>
              <a:rPr lang="el-GR">
                <a:solidFill>
                  <a:schemeClr val="accent2"/>
                </a:solidFill>
              </a:rPr>
              <a:t> Συνδυάζει το χαμηλό κόστος υλοποίησης (μικρή συνάρτηση γύρου) με την εύκολη υποστήριξη της διαδικασίας αποκρυπτογράφησης, απαιτώντας ελάχιστους επιπλέον πόρους.</a:t>
            </a:r>
          </a:p>
          <a:p>
            <a:pPr marL="0" indent="0">
              <a:buNone/>
            </a:pPr>
            <a:r>
              <a:rPr lang="en-US"/>
              <a:t>      </a:t>
            </a:r>
          </a:p>
          <a:p>
            <a:pPr marL="0" indent="0">
              <a:buNone/>
            </a:pPr>
            <a:endParaRPr lang="el-GR"/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6895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F289BC6-991C-244C-0AF3-E9F93866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 (Γενικά Χαρακτηριστικά)</a:t>
            </a:r>
            <a:endParaRPr lang="el-GR" dirty="0">
              <a:solidFill>
                <a:schemeClr val="accent4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8A34CF-A3A2-A18D-A969-E5C35E01B6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0275" y="2864123"/>
            <a:ext cx="64045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8E10D-7595-EF16-8579-677C91406A44}"/>
              </a:ext>
            </a:extLst>
          </p:cNvPr>
          <p:cNvSpPr txBox="1"/>
          <p:nvPr/>
        </p:nvSpPr>
        <p:spPr>
          <a:xfrm>
            <a:off x="677335" y="2803942"/>
            <a:ext cx="93079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>
                <a:solidFill>
                  <a:schemeClr val="accent2"/>
                </a:solidFill>
              </a:rPr>
              <a:t>Ο αλγόριθμος απαρτίζεται από τρία θεμελιώδη δομικά μέρη:</a:t>
            </a:r>
            <a:endParaRPr lang="en-US">
              <a:solidFill>
                <a:schemeClr val="accent2"/>
              </a:solidFill>
            </a:endParaRPr>
          </a:p>
          <a:p>
            <a:endParaRPr lang="en-US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2"/>
                </a:solidFill>
              </a:rPr>
              <a:t>Data Processing Part : Το κύριο τμήμα επεξεργασίας και μετασχηματισμού των δεδομένων.</a:t>
            </a:r>
            <a:endParaRPr lang="en-US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2"/>
                </a:solidFill>
              </a:rPr>
              <a:t>Key Scheduling Part (KS_{80}/ KS_{128}):</a:t>
            </a:r>
            <a:endParaRPr lang="en-US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>
                <a:solidFill>
                  <a:schemeClr val="accent2"/>
                </a:solidFill>
              </a:rPr>
              <a:t> Ο μηχανισμός παραγωγής και διαχείρισης των κλειδιών λεύκανσης και γύρου.FSM (Finite State Machine): </a:t>
            </a:r>
            <a:endParaRPr lang="en-US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>
                <a:solidFill>
                  <a:schemeClr val="accent2"/>
                </a:solidFill>
              </a:rPr>
              <a:t>Η μονάδα ελέγχου για τον απόλυτο συγχρονισμό μεταξύ της επεξεργασίας δεδομένων </a:t>
            </a:r>
            <a:endParaRPr lang="en-US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>
                <a:solidFill>
                  <a:schemeClr val="accent2"/>
                </a:solidFill>
              </a:rPr>
              <a:t>και του χρονοπρογραμματισμού κλειδιών.</a:t>
            </a:r>
            <a:endParaRPr lang="en-US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endParaRPr lang="el-GR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l-GR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l-GR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69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37DD3D8-5BB4-5232-2009-0B0B9657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76" y="641159"/>
            <a:ext cx="8596668" cy="1455174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 (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Τμήμα Επεξεργασίας Δεδομένων)</a:t>
            </a:r>
            <a:endParaRPr lang="el-GR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0057527-39BA-A427-CCC5-A52B59D7A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36" y="3429000"/>
            <a:ext cx="8596668" cy="3880773"/>
          </a:xfrm>
        </p:spPr>
        <p:txBody>
          <a:bodyPr/>
          <a:lstStyle/>
          <a:p>
            <a:r>
              <a:rPr lang="el-GR" sz="1400">
                <a:solidFill>
                  <a:schemeClr val="accent2"/>
                </a:solidFill>
              </a:rPr>
              <a:t>Είσοδοι(</a:t>
            </a:r>
            <a:r>
              <a:rPr lang="en-US" sz="1400">
                <a:solidFill>
                  <a:schemeClr val="accent2"/>
                </a:solidFill>
              </a:rPr>
              <a:t>Inputs):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sz="1400">
                <a:solidFill>
                  <a:schemeClr val="accent2"/>
                </a:solidFill>
              </a:rPr>
              <a:t>Ένα μπλοκ αρχικών δεδομένων 64 </a:t>
            </a:r>
            <a:r>
              <a:rPr lang="en-US" sz="1400">
                <a:solidFill>
                  <a:schemeClr val="accent2"/>
                </a:solidFill>
              </a:rPr>
              <a:t>bit.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sz="1400">
                <a:solidFill>
                  <a:schemeClr val="accent2"/>
                </a:solidFill>
              </a:rPr>
              <a:t>Τέσσερα </a:t>
            </a:r>
            <a:r>
              <a:rPr lang="en-US" sz="1400">
                <a:solidFill>
                  <a:schemeClr val="accent2"/>
                </a:solidFill>
              </a:rPr>
              <a:t>whitening keys(wk0,wk1,wk2,wk3) </a:t>
            </a:r>
            <a:r>
              <a:rPr lang="el-GR" sz="1400">
                <a:solidFill>
                  <a:schemeClr val="accent2"/>
                </a:solidFill>
              </a:rPr>
              <a:t>των 16</a:t>
            </a:r>
            <a:r>
              <a:rPr lang="en-US" sz="1400">
                <a:solidFill>
                  <a:schemeClr val="accent2"/>
                </a:solidFill>
              </a:rPr>
              <a:t> bit </a:t>
            </a:r>
            <a:r>
              <a:rPr lang="el-GR" sz="1400">
                <a:solidFill>
                  <a:schemeClr val="accent2"/>
                </a:solidFill>
              </a:rPr>
              <a:t>έκαστο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sz="1400">
                <a:solidFill>
                  <a:schemeClr val="accent2"/>
                </a:solidFill>
              </a:rPr>
              <a:t>2</a:t>
            </a:r>
            <a:r>
              <a:rPr lang="en-US" sz="1400">
                <a:solidFill>
                  <a:schemeClr val="accent2"/>
                </a:solidFill>
              </a:rPr>
              <a:t>r round keys </a:t>
            </a:r>
            <a:r>
              <a:rPr lang="el-GR" sz="1400">
                <a:solidFill>
                  <a:schemeClr val="accent2"/>
                </a:solidFill>
              </a:rPr>
              <a:t>των 16 </a:t>
            </a:r>
            <a:r>
              <a:rPr lang="en-US" sz="1400">
                <a:solidFill>
                  <a:schemeClr val="accent2"/>
                </a:solidFill>
              </a:rPr>
              <a:t>bit </a:t>
            </a:r>
            <a:r>
              <a:rPr lang="el-GR" sz="1400">
                <a:solidFill>
                  <a:schemeClr val="accent2"/>
                </a:solidFill>
              </a:rPr>
              <a:t>έκαστο. </a:t>
            </a:r>
          </a:p>
          <a:p>
            <a:r>
              <a:rPr lang="el-GR" sz="1400">
                <a:solidFill>
                  <a:schemeClr val="accent2"/>
                </a:solidFill>
              </a:rPr>
              <a:t>Λειτουργία: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2"/>
                </a:solidFill>
              </a:rPr>
              <a:t>Mapping </a:t>
            </a:r>
            <a:r>
              <a:rPr lang="el-GR" sz="1400">
                <a:solidFill>
                  <a:schemeClr val="accent2"/>
                </a:solidFill>
              </a:rPr>
              <a:t>των δεδομένων εισόδου μέσω των </a:t>
            </a:r>
            <a:r>
              <a:rPr lang="en-US" sz="1400">
                <a:solidFill>
                  <a:schemeClr val="accent2"/>
                </a:solidFill>
              </a:rPr>
              <a:t>r </a:t>
            </a:r>
            <a:r>
              <a:rPr lang="el-GR" sz="1400">
                <a:solidFill>
                  <a:schemeClr val="accent2"/>
                </a:solidFill>
              </a:rPr>
              <a:t>γύρων επεξεργασίας.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sz="1400">
                <a:solidFill>
                  <a:schemeClr val="accent2"/>
                </a:solidFill>
              </a:rPr>
              <a:t>Συνδυάζει τις μη γραμμικές αντικαταστάσεις με τις γραμμικές μεταθέσεις για την επίτευξη σύγχυσης (confusion) και διάχυσης (diffusion).</a:t>
            </a:r>
          </a:p>
          <a:p>
            <a:r>
              <a:rPr lang="el-GR" sz="1400">
                <a:solidFill>
                  <a:schemeClr val="accent2"/>
                </a:solidFill>
              </a:rPr>
              <a:t>Έξοδος: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sz="1400">
                <a:solidFill>
                  <a:schemeClr val="accent2"/>
                </a:solidFill>
              </a:rPr>
              <a:t>Ένα μπλοκ 64 </a:t>
            </a:r>
            <a:r>
              <a:rPr lang="en-US" sz="1400">
                <a:solidFill>
                  <a:schemeClr val="accent2"/>
                </a:solidFill>
              </a:rPr>
              <a:t>bit </a:t>
            </a:r>
            <a:r>
              <a:rPr lang="el-GR" sz="1400">
                <a:solidFill>
                  <a:schemeClr val="accent2"/>
                </a:solidFill>
              </a:rPr>
              <a:t>δεδομένων Υ</a:t>
            </a:r>
          </a:p>
          <a:p>
            <a:pPr>
              <a:buFont typeface="Wingdings" panose="05000000000000000000" pitchFamily="2" charset="2"/>
              <a:buChar char="§"/>
            </a:pPr>
            <a:endParaRPr lang="el-GR" sz="140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l-GR"/>
          </a:p>
          <a:p>
            <a:endParaRPr lang="el-G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882FADF-564E-B17D-FC81-2446957B0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263" y="2218839"/>
            <a:ext cx="4885081" cy="204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36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6FD1525-A93D-4FDF-AC6D-53A37A2C2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9872"/>
            <a:ext cx="8596668" cy="157276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: 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Αρχιτεκτονική Σχεδίαση της 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Encryption function Gr</a:t>
            </a:r>
            <a:endParaRPr lang="el-GR"/>
          </a:p>
        </p:txBody>
      </p:sp>
      <p:pic>
        <p:nvPicPr>
          <p:cNvPr id="5" name="Θέση περιεχομένου 4" descr="Εικόνα που περιέχει διάγραμμα, τεχνικό σχέδιο, σκίτσο/σχέδιο, Σχέδιο">
            <a:extLst>
              <a:ext uri="{FF2B5EF4-FFF2-40B4-BE49-F238E27FC236}">
                <a16:creationId xmlns:a16="http://schemas.microsoft.com/office/drawing/2014/main" id="{CA9C8522-FF0D-0674-99EF-13DE5F40C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430044"/>
            <a:ext cx="6730169" cy="4190211"/>
          </a:xfrm>
        </p:spPr>
      </p:pic>
      <p:pic>
        <p:nvPicPr>
          <p:cNvPr id="7" name="Εικόνα 6" descr="Εικόνα που περιέχει διάγραμμα, γραμματοσειρά, σκίτσο/σχέδιο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728194F-F1B8-C1DF-253B-62DE65E1C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69" y="3824964"/>
            <a:ext cx="4029637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7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E709818-EF2A-351A-1738-E3254B57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 (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Τμήμα Επεξεργασίας Δεδομένων)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(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συνέχεια)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03D89CE-83FE-CF27-D4EC-A547D5438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10965"/>
            <a:ext cx="8596668" cy="3880773"/>
          </a:xfrm>
        </p:spPr>
        <p:txBody>
          <a:bodyPr/>
          <a:lstStyle/>
          <a:p>
            <a:r>
              <a:rPr lang="el-GR" sz="2000">
                <a:solidFill>
                  <a:schemeClr val="accent2"/>
                </a:solidFill>
              </a:rPr>
              <a:t>Δομικά στοιχεία συναρτήσεων</a:t>
            </a:r>
            <a:r>
              <a:rPr lang="el-GR">
                <a:solidFill>
                  <a:schemeClr val="accent2"/>
                </a:solidFill>
              </a:rPr>
              <a:t>:</a:t>
            </a:r>
          </a:p>
          <a:p>
            <a:r>
              <a:rPr lang="el-GR">
                <a:solidFill>
                  <a:schemeClr val="accent2"/>
                </a:solidFill>
              </a:rPr>
              <a:t>Συνάρτηση (F-function):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>
                <a:solidFill>
                  <a:schemeClr val="accent2"/>
                </a:solidFill>
              </a:rPr>
              <a:t>Αποτελεί τον βασικό μη γραμμικό μετασχηματισμό του αλγορίθμου.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>
                <a:solidFill>
                  <a:schemeClr val="accent2"/>
                </a:solidFill>
              </a:rPr>
              <a:t>Λειτουργεί σε τμήματα δεδομένων μεγέθους 16 bit.</a:t>
            </a:r>
          </a:p>
          <a:p>
            <a:r>
              <a:rPr lang="el-GR">
                <a:solidFill>
                  <a:schemeClr val="accent2"/>
                </a:solidFill>
              </a:rPr>
              <a:t>Μετάθεση RP (Permutation):</a:t>
            </a:r>
            <a:endParaRPr lang="en-US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l-GR">
                <a:solidFill>
                  <a:schemeClr val="accent2"/>
                </a:solidFill>
              </a:rPr>
              <a:t>Εκτελεί τη διάχυση των δεδομένων σε ολόκληρο το μπλοκ των 64 bit.</a:t>
            </a:r>
            <a:endParaRPr lang="en-US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l-GR">
                <a:solidFill>
                  <a:schemeClr val="accent2"/>
                </a:solidFill>
              </a:rPr>
              <a:t>Αναδιατάσσει τη θέση των bytes για να διασφαλίσει ότι η πληροφορία αναμιγνύεται σωστά μεταξύ των γύρων.</a:t>
            </a:r>
          </a:p>
        </p:txBody>
      </p:sp>
    </p:spTree>
    <p:extLst>
      <p:ext uri="{BB962C8B-B14F-4D97-AF65-F5344CB8AC3E}">
        <p14:creationId xmlns:p14="http://schemas.microsoft.com/office/powerpoint/2010/main" val="398775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C5F25E-03A0-E1A0-1ACD-68F7E40F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 (</a:t>
            </a:r>
            <a:r>
              <a:rPr lang="el-GR" sz="3100" b="1">
                <a:solidFill>
                  <a:schemeClr val="accent4"/>
                </a:solidFill>
                <a:latin typeface="Arial" panose="020B0604020202020204" pitchFamily="34" charset="0"/>
              </a:rPr>
              <a:t>Διαδικασία Αποκρυπτογράφησης)</a:t>
            </a:r>
            <a:endParaRPr lang="el-GR" sz="3100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9E5175E-A477-8E9E-023B-E54B4B7B8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210" y="2208214"/>
            <a:ext cx="5149221" cy="404018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l-GR" sz="1200">
                <a:solidFill>
                  <a:schemeClr val="accent2"/>
                </a:solidFill>
              </a:rPr>
              <a:t>Αντιστροφή Σειράς: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l-GR" sz="1200">
                <a:solidFill>
                  <a:schemeClr val="accent2"/>
                </a:solidFill>
              </a:rPr>
              <a:t>Η αποκρυπτογράφηση επιτυγχάνεται με την πλήρη αντιστροφή της σειράς εφαρμογής των κλειδιών.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l-GR" sz="1200">
                <a:solidFill>
                  <a:schemeClr val="accent2"/>
                </a:solidFill>
              </a:rPr>
              <a:t>Αυτό αφορά τόσο τα κλειδιά λεύκανσης (whitening keys) όσο και τα κλειδιά γύρου (round keys).</a:t>
            </a:r>
          </a:p>
          <a:p>
            <a:pPr>
              <a:lnSpc>
                <a:spcPct val="90000"/>
              </a:lnSpc>
            </a:pPr>
            <a:r>
              <a:rPr lang="el-GR" sz="1200">
                <a:solidFill>
                  <a:schemeClr val="accent2"/>
                </a:solidFill>
              </a:rPr>
              <a:t>Διατήρηση Δομής: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l-GR" sz="1200">
                <a:solidFill>
                  <a:schemeClr val="accent2"/>
                </a:solidFill>
              </a:rPr>
              <a:t>Χρησιμοποιείται η ίδια ακριβώς αρχιτεκτονική δομή με την κρυπτογράφηση.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l-GR" sz="1200">
                <a:solidFill>
                  <a:schemeClr val="accent2"/>
                </a:solidFill>
              </a:rPr>
              <a:t>Δεν απαιτείται σχεδίαση διαφορετικού κυκλώματος για την αποκρυπτογράφηση, γεγονός που μειώνει το κόστος σε επίπεδο υλικού (hardware efficiency).</a:t>
            </a:r>
          </a:p>
          <a:p>
            <a:pPr>
              <a:lnSpc>
                <a:spcPct val="90000"/>
              </a:lnSpc>
            </a:pPr>
            <a:r>
              <a:rPr lang="el-GR" sz="1200">
                <a:solidFill>
                  <a:schemeClr val="accent2"/>
                </a:solidFill>
              </a:rPr>
              <a:t>Εφαρμογή Κλειδιών: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l-GR" sz="1200">
                <a:solidFill>
                  <a:schemeClr val="accent2"/>
                </a:solidFill>
              </a:rPr>
              <a:t>Τα κλειδιά που χρησιμοποιήθηκαν τελευταία κατά την κρυπτογράφηση, εφαρμόζονται πρώτα κατά την αποκρυπτογράφηση.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4B8E25E-0D57-93AA-4CCE-C0817F3DD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5251" y="3429000"/>
            <a:ext cx="4204989" cy="122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911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D025A26-CE00-0CC4-B702-D32EF66B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7443"/>
            <a:ext cx="9108112" cy="225643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: 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Αρχιτεκτονική Σχεδίαση της 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 Decryption function  Gr ̄ ¹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( Reversed 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λειτουργία Στοιχείων )</a:t>
            </a:r>
            <a:endParaRPr lang="el-GR"/>
          </a:p>
        </p:txBody>
      </p:sp>
      <p:pic>
        <p:nvPicPr>
          <p:cNvPr id="4" name="Θέση περιεχομένου 4" descr="Εικόνα που περιέχει διάγραμμα, τεχνικό σχέδιο, σκίτσο/σχέδιο, Σχέδιο">
            <a:extLst>
              <a:ext uri="{FF2B5EF4-FFF2-40B4-BE49-F238E27FC236}">
                <a16:creationId xmlns:a16="http://schemas.microsoft.com/office/drawing/2014/main" id="{6F4B38DE-5558-46CB-90FB-5CDF96513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326051"/>
            <a:ext cx="6299940" cy="3922350"/>
          </a:xfrm>
        </p:spPr>
      </p:pic>
      <p:pic>
        <p:nvPicPr>
          <p:cNvPr id="5" name="Εικόνα 4" descr="Εικόνα που περιέχει διάγραμμα, γραμματοσειρά, σκίτσο/σχέδιο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58AFB29-DFE8-66E1-B4E3-7552F426C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029" y="3587041"/>
            <a:ext cx="4029637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2675329-AB70-5B1F-1B7D-8108C4CD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 (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F function , S_boxes )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46BD983-4A54-5005-792D-B6D0A0B1E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80202"/>
            <a:ext cx="8596668" cy="4644448"/>
          </a:xfrm>
        </p:spPr>
        <p:txBody>
          <a:bodyPr>
            <a:normAutofit lnSpcReduction="10000"/>
          </a:bodyPr>
          <a:lstStyle/>
          <a:p>
            <a:r>
              <a:rPr lang="el-GR">
                <a:solidFill>
                  <a:schemeClr val="accent2"/>
                </a:solidFill>
              </a:rPr>
              <a:t>Η συνάρτηση F : {0,1}¹⁶ → {0,1}¹⁶ αποτελείται από δύο στρώματα S-box χωρισμένα από μια diffusion matrix.</a:t>
            </a:r>
          </a:p>
          <a:p>
            <a:r>
              <a:rPr lang="el-GR">
                <a:solidFill>
                  <a:schemeClr val="accent2"/>
                </a:solidFill>
              </a:rPr>
              <a:t>Το στρώμα S-box αποτελείται από τέσσερα 4-bit bijective S-boxes που δίνεται στον παρακάτω πίνακα:</a:t>
            </a:r>
            <a:endParaRPr lang="en-US">
              <a:solidFill>
                <a:schemeClr val="accent2"/>
              </a:solidFill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l-GR">
                <a:solidFill>
                  <a:schemeClr val="accent2"/>
                </a:solidFill>
              </a:rPr>
              <a:t>Κάθε 16-</a:t>
            </a:r>
            <a:r>
              <a:rPr lang="en-US">
                <a:solidFill>
                  <a:schemeClr val="accent2"/>
                </a:solidFill>
              </a:rPr>
              <a:t>bit </a:t>
            </a:r>
            <a:r>
              <a:rPr lang="el-GR">
                <a:solidFill>
                  <a:schemeClr val="accent2"/>
                </a:solidFill>
              </a:rPr>
              <a:t>δεδομένο </a:t>
            </a:r>
            <a:r>
              <a:rPr lang="en-US">
                <a:solidFill>
                  <a:schemeClr val="accent2"/>
                </a:solidFill>
              </a:rPr>
              <a:t>X </a:t>
            </a:r>
            <a:r>
              <a:rPr lang="el-GR">
                <a:solidFill>
                  <a:schemeClr val="accent2"/>
                </a:solidFill>
              </a:rPr>
              <a:t>χωρίζεται σε τέσσερα 4-</a:t>
            </a:r>
            <a:r>
              <a:rPr lang="en-US">
                <a:solidFill>
                  <a:schemeClr val="accent2"/>
                </a:solidFill>
              </a:rPr>
              <a:t>bit </a:t>
            </a:r>
            <a:r>
              <a:rPr lang="el-GR">
                <a:solidFill>
                  <a:schemeClr val="accent2"/>
                </a:solidFill>
              </a:rPr>
              <a:t>τμήματα (</a:t>
            </a:r>
            <a:r>
              <a:rPr lang="en-US">
                <a:solidFill>
                  <a:schemeClr val="accent2"/>
                </a:solidFill>
              </a:rPr>
              <a:t>nibbles):</a:t>
            </a:r>
          </a:p>
          <a:p>
            <a:r>
              <a:rPr lang="en-US">
                <a:solidFill>
                  <a:schemeClr val="accent2"/>
                </a:solidFill>
              </a:rPr>
              <a:t>X = x0 || x1 || x2 || x3 </a:t>
            </a:r>
          </a:p>
          <a:p>
            <a:r>
              <a:rPr lang="el-GR">
                <a:solidFill>
                  <a:schemeClr val="accent2"/>
                </a:solidFill>
              </a:rPr>
              <a:t>Η εφαρμογή της </a:t>
            </a:r>
            <a:r>
              <a:rPr lang="en-US">
                <a:solidFill>
                  <a:schemeClr val="accent2"/>
                </a:solidFill>
              </a:rPr>
              <a:t>S-box </a:t>
            </a:r>
            <a:r>
              <a:rPr lang="el-GR">
                <a:solidFill>
                  <a:schemeClr val="accent2"/>
                </a:solidFill>
              </a:rPr>
              <a:t>γίνεται ξεχωριστά σε κάθε </a:t>
            </a:r>
            <a:r>
              <a:rPr lang="en-US">
                <a:solidFill>
                  <a:schemeClr val="accent2"/>
                </a:solidFill>
              </a:rPr>
              <a:t>nibble:</a:t>
            </a:r>
          </a:p>
          <a:p>
            <a:r>
              <a:rPr lang="en-US">
                <a:solidFill>
                  <a:schemeClr val="accent2"/>
                </a:solidFill>
              </a:rPr>
              <a:t>(x0, x1, x2, x3) ← (S(x0), S(x1), S(x2), S(x3))</a:t>
            </a:r>
          </a:p>
          <a:p>
            <a:r>
              <a:rPr lang="el-GR">
                <a:solidFill>
                  <a:schemeClr val="accent2"/>
                </a:solidFill>
              </a:rPr>
              <a:t>Όπου κάθε </a:t>
            </a:r>
            <a:r>
              <a:rPr lang="en-US">
                <a:solidFill>
                  <a:schemeClr val="accent2"/>
                </a:solidFill>
              </a:rPr>
              <a:t>S(xᵢ) </a:t>
            </a:r>
            <a:r>
              <a:rPr lang="el-GR">
                <a:solidFill>
                  <a:schemeClr val="accent2"/>
                </a:solidFill>
              </a:rPr>
              <a:t>προκύπτει από τον 4-</a:t>
            </a:r>
            <a:r>
              <a:rPr lang="en-US">
                <a:solidFill>
                  <a:schemeClr val="accent2"/>
                </a:solidFill>
              </a:rPr>
              <a:t>bit bijective </a:t>
            </a:r>
            <a:r>
              <a:rPr lang="el-GR">
                <a:solidFill>
                  <a:schemeClr val="accent2"/>
                </a:solidFill>
              </a:rPr>
              <a:t>πίνακα </a:t>
            </a:r>
            <a:r>
              <a:rPr lang="en-US">
                <a:solidFill>
                  <a:schemeClr val="accent2"/>
                </a:solidFill>
              </a:rPr>
              <a:t>S </a:t>
            </a:r>
            <a:r>
              <a:rPr lang="el-GR">
                <a:solidFill>
                  <a:schemeClr val="accent2"/>
                </a:solidFill>
              </a:rPr>
              <a:t>που δίνεται στον Πίνακα </a:t>
            </a:r>
            <a:r>
              <a:rPr lang="en-US">
                <a:solidFill>
                  <a:schemeClr val="accent2"/>
                </a:solidFill>
              </a:rPr>
              <a:t>S-box.</a:t>
            </a:r>
          </a:p>
          <a:p>
            <a:endParaRPr lang="el-GR"/>
          </a:p>
          <a:p>
            <a:endParaRPr lang="el-GR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045DDCC-44DA-10C3-4370-4211A3042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791" y="3471705"/>
            <a:ext cx="530542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859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6F002FA-0A90-AB7B-534C-A9E97DAB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PICCOLO : An Ultra-Lightweight Blockcipher ( F function , S_boxes )</a:t>
            </a:r>
            <a:endParaRPr lang="el-GR" b="1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4E3CEAA-020E-1C63-D14A-6516234C3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l-GR">
                <a:solidFill>
                  <a:schemeClr val="accent2"/>
                </a:solidFill>
              </a:rPr>
              <a:t>Η </a:t>
            </a:r>
            <a:r>
              <a:rPr lang="en-US">
                <a:solidFill>
                  <a:schemeClr val="accent2"/>
                </a:solidFill>
              </a:rPr>
              <a:t>diffusion Matrix M:</a:t>
            </a:r>
          </a:p>
          <a:p>
            <a:endParaRPr lang="en-US"/>
          </a:p>
          <a:p>
            <a:r>
              <a:rPr lang="el-GR">
                <a:solidFill>
                  <a:schemeClr val="accent2"/>
                </a:solidFill>
              </a:rPr>
              <a:t>Η συνάρτηση diffusion ενημερώνει ένα 16-bit δεδομένο X = x0 || x1 || x2 || x3 ως εξής:  </a:t>
            </a:r>
          </a:p>
          <a:p>
            <a:r>
              <a:rPr lang="el-GR">
                <a:solidFill>
                  <a:schemeClr val="accent2"/>
                </a:solidFill>
              </a:rPr>
              <a:t>t^(x0', x1', x2', x3') ← M · t^(x0, x1, x2, x3) </a:t>
            </a:r>
            <a:endParaRPr lang="en-US">
              <a:solidFill>
                <a:schemeClr val="accent2"/>
              </a:solidFill>
            </a:endParaRPr>
          </a:p>
          <a:p>
            <a:r>
              <a:rPr lang="en-US">
                <a:solidFill>
                  <a:schemeClr val="accent2"/>
                </a:solidFill>
              </a:rPr>
              <a:t> </a:t>
            </a:r>
            <a:r>
              <a:rPr lang="el-GR">
                <a:solidFill>
                  <a:schemeClr val="accent2"/>
                </a:solidFill>
              </a:rPr>
              <a:t>Όπου οι πράξεις πολλαπλασιασμού και πρόσθεσης μεταξύ του πίνακα και του διανύσματος γίνονται στο πεδίο GF(2⁴), το οποίο ορίζεται από το αμετάθετο πολυώνυμο: x⁴ + x + 1</a:t>
            </a:r>
          </a:p>
          <a:p>
            <a:r>
              <a:rPr lang="el-GR">
                <a:solidFill>
                  <a:schemeClr val="accent2"/>
                </a:solidFill>
              </a:rPr>
              <a:t>Η RP : {0,1}⁶⁴ → {0,1}⁶⁴ χωρίζει το 64-bit input X σε οκτώ bytes:</a:t>
            </a:r>
          </a:p>
          <a:p>
            <a:r>
              <a:rPr lang="el-GR">
                <a:solidFill>
                  <a:schemeClr val="accent2"/>
                </a:solidFill>
              </a:rPr>
              <a:t>X = x0 || x1 || x2 || x3 || x4 || x5 || x6 || x7</a:t>
            </a:r>
          </a:p>
          <a:p>
            <a:r>
              <a:rPr lang="el-GR">
                <a:solidFill>
                  <a:schemeClr val="accent2"/>
                </a:solidFill>
              </a:rPr>
              <a:t>Στη συνέχεια, τα bytes ανακατατάσσονται ως εξής:</a:t>
            </a:r>
          </a:p>
          <a:p>
            <a:r>
              <a:rPr lang="el-GR">
                <a:solidFill>
                  <a:schemeClr val="accent2"/>
                </a:solidFill>
              </a:rPr>
              <a:t>RP(X) = (x2, x7, x4, x1, x6, x3, x0, x5)  </a:t>
            </a:r>
          </a:p>
          <a:p>
            <a:r>
              <a:rPr lang="el-GR">
                <a:solidFill>
                  <a:schemeClr val="accent2"/>
                </a:solidFill>
              </a:rPr>
              <a:t>Τέλος, τα permuted bytes γίνονται concatenate ξανά σε ένα 64-bit block X, το οποίο αποτελεί την έξοδο της round permutation.</a:t>
            </a:r>
          </a:p>
          <a:p>
            <a:endParaRPr lang="el-GR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8C00DC5-93B3-55F5-3AA0-5C11CE3C3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493" y="1930400"/>
            <a:ext cx="12763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41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75D5961-C097-9362-2F08-F78EDC26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PICCOLO : An Ultra-Lightweight Blockcipher ( Key_Scheduling_Part )</a:t>
            </a:r>
            <a:endParaRPr lang="el-GR" b="1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96ED12C-09E6-8D66-81C8-923017171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49074"/>
            <a:ext cx="8596668" cy="3880773"/>
          </a:xfrm>
        </p:spPr>
        <p:txBody>
          <a:bodyPr>
            <a:normAutofit/>
          </a:bodyPr>
          <a:lstStyle/>
          <a:p>
            <a:r>
              <a:rPr lang="el-GR">
                <a:solidFill>
                  <a:schemeClr val="accent2"/>
                </a:solidFill>
              </a:rPr>
              <a:t>Η συνάρτηση key scheduling για τα Piccolo-80 και Piccolo-128 ονομάζεται </a:t>
            </a:r>
            <a:r>
              <a:rPr lang="el-GR" b="1">
                <a:solidFill>
                  <a:schemeClr val="accent2"/>
                </a:solidFill>
              </a:rPr>
              <a:t>KS80r</a:t>
            </a:r>
            <a:r>
              <a:rPr lang="el-GR">
                <a:solidFill>
                  <a:schemeClr val="accent2"/>
                </a:solidFill>
              </a:rPr>
              <a:t> και </a:t>
            </a:r>
            <a:r>
              <a:rPr lang="el-GR" b="1">
                <a:solidFill>
                  <a:schemeClr val="accent2"/>
                </a:solidFill>
              </a:rPr>
              <a:t>KS128r</a:t>
            </a:r>
            <a:r>
              <a:rPr lang="el-GR">
                <a:solidFill>
                  <a:schemeClr val="accent2"/>
                </a:solidFill>
              </a:rPr>
              <a:t>, αντίστοιχα.</a:t>
            </a:r>
            <a:endParaRPr lang="en-US">
              <a:solidFill>
                <a:schemeClr val="accent2"/>
              </a:solidFill>
            </a:endParaRPr>
          </a:p>
          <a:p>
            <a:r>
              <a:rPr lang="el-GR">
                <a:solidFill>
                  <a:schemeClr val="accent2"/>
                </a:solidFill>
              </a:rPr>
              <a:t>Οι  16-bit σταθερές con80_i και con128_i απαιτούνται για την περιγραφή του κάθε schedule, οι οποίες χρησιμοποιούνται στις αντίστοιχες συναρτήσεις KS80_r και KS128_r. </a:t>
            </a:r>
            <a:endParaRPr lang="en-US">
              <a:solidFill>
                <a:schemeClr val="accent2"/>
              </a:solidFill>
            </a:endParaRPr>
          </a:p>
          <a:p>
            <a:r>
              <a:rPr lang="el-GR">
                <a:solidFill>
                  <a:schemeClr val="accent2"/>
                </a:solidFill>
              </a:rPr>
              <a:t>Οι τιμές των σταθερών παράγονται ως εξής : </a:t>
            </a:r>
            <a:endParaRPr lang="en-US">
              <a:solidFill>
                <a:schemeClr val="accent2"/>
              </a:solidFill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fr-FR">
                <a:solidFill>
                  <a:schemeClr val="accent2"/>
                </a:solidFill>
              </a:rPr>
              <a:t>με το ci  5-bit presentation του i.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l-GR"/>
          </a:p>
          <a:p>
            <a:endParaRPr lang="el-GR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3E4E0C9-F24B-358F-13E7-7B1E7052C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019" y="4304071"/>
            <a:ext cx="559117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741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2FD27D0-F0B6-CCC9-8DD9-23CE0F44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Key_Scheduler_80(KS80_r)</a:t>
            </a:r>
            <a:endParaRPr lang="el-GR" b="1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2C04C89-98C8-AB57-7B9B-AD46F7791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07" y="2180687"/>
            <a:ext cx="5220430" cy="389004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l-GR" sz="1600">
                <a:solidFill>
                  <a:schemeClr val="accent2"/>
                </a:solidFill>
              </a:rPr>
              <a:t>Η συνάρτηση key scheduling για το 80-bit key mode (KS80_r) λειτουργεί ως εξής:</a:t>
            </a:r>
          </a:p>
          <a:p>
            <a:pPr>
              <a:lnSpc>
                <a:spcPct val="90000"/>
              </a:lnSpc>
            </a:pPr>
            <a:r>
              <a:rPr lang="el-GR" sz="1600">
                <a:solidFill>
                  <a:schemeClr val="accent2"/>
                </a:solidFill>
              </a:rPr>
              <a:t>Το 80-bit κλειδί K(80) χωρίζεται σε πέντε 16-bit υποκλειδιά: k_i, 0 ≤ i &lt; 5 </a:t>
            </a:r>
          </a:p>
          <a:p>
            <a:pPr>
              <a:lnSpc>
                <a:spcPct val="90000"/>
              </a:lnSpc>
            </a:pPr>
            <a:r>
              <a:rPr lang="el-GR" sz="1600">
                <a:solidFill>
                  <a:schemeClr val="accent2"/>
                </a:solidFill>
              </a:rPr>
              <a:t>Τα υποκλειδιά αυτά χρησιμοποιούνται για την παραγωγή των τεσσάρων whitening keys:  wk_i, 0 ≤ i &lt; 4 , των 2xr round keys: rk_j, 0 ≤ j &lt; 2r .</a:t>
            </a:r>
          </a:p>
          <a:p>
            <a:pPr>
              <a:lnSpc>
                <a:spcPct val="90000"/>
              </a:lnSpc>
            </a:pPr>
            <a:r>
              <a:rPr lang="el-GR" sz="1600">
                <a:solidFill>
                  <a:schemeClr val="accent2"/>
                </a:solidFill>
              </a:rPr>
              <a:t>Η διαδικασία κατανομής των υποκλειδιών και των σταθερών con80_i ορίζεται αναλυτικά στα επόμενα βήματα του αλγορίθμου.</a:t>
            </a:r>
          </a:p>
          <a:p>
            <a:pPr>
              <a:lnSpc>
                <a:spcPct val="90000"/>
              </a:lnSpc>
            </a:pPr>
            <a:r>
              <a:rPr lang="el-GR" sz="1600">
                <a:solidFill>
                  <a:schemeClr val="accent2"/>
                </a:solidFill>
              </a:rPr>
              <a:t>Στο KS80_r, κάθε 16-bit υποκλειδί kᵢ χωρίζεται σε αριστερό και δεξί μέρος των 8 bit:</a:t>
            </a:r>
          </a:p>
          <a:p>
            <a:pPr>
              <a:lnSpc>
                <a:spcPct val="90000"/>
              </a:lnSpc>
            </a:pPr>
            <a:r>
              <a:rPr lang="el-GR" sz="1600">
                <a:solidFill>
                  <a:schemeClr val="accent2"/>
                </a:solidFill>
              </a:rPr>
              <a:t>kᵢ = kLᵢ || kRᵢ</a:t>
            </a:r>
          </a:p>
          <a:p>
            <a:pPr>
              <a:lnSpc>
                <a:spcPct val="90000"/>
              </a:lnSpc>
            </a:pPr>
            <a:r>
              <a:rPr lang="el-GR" sz="1600">
                <a:solidFill>
                  <a:schemeClr val="accent2"/>
                </a:solidFill>
              </a:rPr>
              <a:t>όπου kLᵢ(8) είναι τα αριστερά 8 bit και kRᵢ(8) είναι τα δεξιά 8 bit. Το kRᵢ περιέχει το λιγότερο σημαντικό bit του ki(16) </a:t>
            </a:r>
          </a:p>
          <a:p>
            <a:pPr>
              <a:lnSpc>
                <a:spcPct val="90000"/>
              </a:lnSpc>
            </a:pPr>
            <a:endParaRPr lang="el-GR" sz="130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9A3F21C-FDF7-1DE4-5C2F-ACA6630DD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0984" y="3360617"/>
            <a:ext cx="4629404" cy="115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162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85CF739-4535-0003-36CA-1BEFCDCC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Key_Scheduler_128(KS128_r)</a:t>
            </a:r>
            <a:endParaRPr lang="el-GR" b="1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B8C961D-16DD-3DF4-535A-5717A30E2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1700">
                <a:solidFill>
                  <a:schemeClr val="accent2"/>
                </a:solidFill>
              </a:rPr>
              <a:t>Η συνάρτηση key scheduling για το 128-bit key mode (KS128_r) λειτουργεί ως εξής:</a:t>
            </a:r>
          </a:p>
          <a:p>
            <a:pPr>
              <a:lnSpc>
                <a:spcPct val="90000"/>
              </a:lnSpc>
            </a:pPr>
            <a:r>
              <a:rPr lang="el-GR" sz="1700">
                <a:solidFill>
                  <a:schemeClr val="accent2"/>
                </a:solidFill>
              </a:rPr>
              <a:t>Το 128-bit κλειδί K(128) χωρίζεται σε οκτώ 16-bit υποκλειδιά: </a:t>
            </a:r>
          </a:p>
          <a:p>
            <a:pPr>
              <a:lnSpc>
                <a:spcPct val="90000"/>
              </a:lnSpc>
            </a:pPr>
            <a:r>
              <a:rPr lang="el-GR" sz="1700">
                <a:solidFill>
                  <a:schemeClr val="accent2"/>
                </a:solidFill>
              </a:rPr>
              <a:t> kᵢ, 0 ≤ i &lt; 8</a:t>
            </a:r>
          </a:p>
          <a:p>
            <a:pPr>
              <a:lnSpc>
                <a:spcPct val="90000"/>
              </a:lnSpc>
            </a:pPr>
            <a:r>
              <a:rPr lang="el-GR" sz="1700">
                <a:solidFill>
                  <a:schemeClr val="accent2"/>
                </a:solidFill>
              </a:rPr>
              <a:t>Τα υποκλειδιά αυτά χρησιμοποιούνται για την παραγωγή των τεσσάρων whitening keys: wk_i, 0 ≤ i &lt; 4  και των 2xr round keys: rk_j, 0 ≤ j &lt; 2r</a:t>
            </a:r>
          </a:p>
          <a:p>
            <a:pPr>
              <a:lnSpc>
                <a:spcPct val="90000"/>
              </a:lnSpc>
            </a:pPr>
            <a:r>
              <a:rPr lang="el-GR" sz="1700">
                <a:solidFill>
                  <a:schemeClr val="accent2"/>
                </a:solidFill>
              </a:rPr>
              <a:t>Η κατανομή των υποκλειδιών και των σταθερών con128_i ορίζεται αναλυτικά στα επόμενα βήματα του αλγορίθμου όπως απεικονίζεται από κάτω :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B9C1D96-2079-E702-36F6-A4D5EBCE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64" y="3099345"/>
            <a:ext cx="5080002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8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1C8E511-E015-F80D-9BF1-5CB31E02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>
                <a:solidFill>
                  <a:schemeClr val="accent4"/>
                </a:solidFill>
              </a:rPr>
              <a:t>Πλεονεκτήματα </a:t>
            </a:r>
            <a:r>
              <a:rPr lang="en-US" b="1">
                <a:solidFill>
                  <a:schemeClr val="accent4"/>
                </a:solidFill>
              </a:rPr>
              <a:t>Piccolo</a:t>
            </a:r>
            <a:endParaRPr lang="el-GR" b="1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1F80AC6-87E9-A56F-8F5F-429DF615F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473295"/>
          </a:xfrm>
        </p:spPr>
        <p:txBody>
          <a:bodyPr>
            <a:normAutofit lnSpcReduction="10000"/>
          </a:bodyPr>
          <a:lstStyle/>
          <a:p>
            <a:r>
              <a:rPr lang="el-GR">
                <a:solidFill>
                  <a:schemeClr val="accent2"/>
                </a:solidFill>
              </a:rPr>
              <a:t>Συνολικά, το Piccolo καταφέρνει να συνδυάσει:</a:t>
            </a:r>
          </a:p>
          <a:p>
            <a:r>
              <a:rPr lang="el-GR">
                <a:solidFill>
                  <a:schemeClr val="accent2"/>
                </a:solidFill>
              </a:rPr>
              <a:t>Ικανοποιητικό επίπεδο ασφάλειας απέναντι σε γνωστές επιθέσεις</a:t>
            </a:r>
          </a:p>
          <a:p>
            <a:r>
              <a:rPr lang="el-GR">
                <a:solidFill>
                  <a:schemeClr val="accent2"/>
                </a:solidFill>
              </a:rPr>
              <a:t>Πολύ μικρή απαίτηση υλικού</a:t>
            </a:r>
          </a:p>
          <a:p>
            <a:r>
              <a:rPr lang="el-GR">
                <a:solidFill>
                  <a:schemeClr val="accent2"/>
                </a:solidFill>
              </a:rPr>
              <a:t>Χαμηλή κατανάλωση ενέργειας</a:t>
            </a:r>
          </a:p>
          <a:p>
            <a:r>
              <a:rPr lang="el-GR">
                <a:solidFill>
                  <a:schemeClr val="accent2"/>
                </a:solidFill>
              </a:rPr>
              <a:t>Υποστήριξη τόσο κρυπτογράφησης όσο και αποκρυπτογράφησης</a:t>
            </a:r>
            <a:endParaRPr lang="en-US">
              <a:solidFill>
                <a:schemeClr val="accent2"/>
              </a:solidFill>
            </a:endParaRPr>
          </a:p>
          <a:p>
            <a:r>
              <a:rPr lang="el-GR">
                <a:solidFill>
                  <a:schemeClr val="accent2"/>
                </a:solidFill>
              </a:rPr>
              <a:t>Για τους λόγους αυτούς, αποτελεί μία ιδιαίτερα ανταγωνιστική λύση στην κατηγορία των ultra-lightweight block ciphers για συστήματα με αυστηρούς περιορισμούς σε ισχύ, επιφάνεια και ενέργεια</a:t>
            </a:r>
            <a:r>
              <a:rPr lang="el-GR" b="1"/>
              <a:t>. </a:t>
            </a:r>
            <a:endParaRPr lang="el-GR"/>
          </a:p>
          <a:p>
            <a:pPr marL="0" indent="0">
              <a:buNone/>
            </a:pPr>
            <a:br>
              <a:rPr lang="el-GR"/>
            </a:br>
            <a:endParaRPr lang="el-GR"/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79247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4DA1-199D-3BC4-786A-01F090F4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3DF3-F2CC-AE57-08CF-1046CE290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402080"/>
            <a:ext cx="7766936" cy="2648756"/>
          </a:xfrm>
        </p:spPr>
        <p:txBody>
          <a:bodyPr/>
          <a:lstStyle/>
          <a:p>
            <a:pPr algn="l"/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: An Ultra-Lightweight Blockcipher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57194-74EB-79D7-CC0B-A1C1335AC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611668"/>
            <a:ext cx="8600101" cy="1203916"/>
          </a:xfrm>
        </p:spPr>
        <p:txBody>
          <a:bodyPr>
            <a:normAutofit fontScale="25000" lnSpcReduction="20000"/>
          </a:bodyPr>
          <a:lstStyle/>
          <a:p>
            <a:pPr algn="ctr"/>
            <a:endParaRPr lang="en-US" sz="14800">
              <a:solidFill>
                <a:schemeClr val="accent4"/>
              </a:solidFill>
            </a:endParaRPr>
          </a:p>
          <a:p>
            <a:pPr algn="ctr"/>
            <a:r>
              <a:rPr lang="en-US" sz="14800">
                <a:solidFill>
                  <a:schemeClr val="accent4"/>
                </a:solidFill>
              </a:rPr>
              <a:t>Architecture Components (Modelsim)</a:t>
            </a:r>
            <a:endParaRPr sz="14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756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F40361F-E85C-5D56-00FD-4069532B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 fontScale="90000"/>
          </a:bodyPr>
          <a:lstStyle/>
          <a:p>
            <a:r>
              <a:rPr lang="en-US" sz="3300" b="1">
                <a:solidFill>
                  <a:schemeClr val="accent4"/>
                </a:solidFill>
              </a:rPr>
              <a:t>PICCOLO : An Ultra-Lightweight Blockcipher </a:t>
            </a:r>
            <a:br>
              <a:rPr lang="el-GR" sz="3300" b="1">
                <a:solidFill>
                  <a:schemeClr val="accent4"/>
                </a:solidFill>
              </a:rPr>
            </a:br>
            <a:r>
              <a:rPr lang="en-US" sz="3300" b="1">
                <a:solidFill>
                  <a:schemeClr val="accent4"/>
                </a:solidFill>
              </a:rPr>
              <a:t>( </a:t>
            </a:r>
            <a:r>
              <a:rPr lang="el-GR" sz="3300" b="1">
                <a:solidFill>
                  <a:schemeClr val="accent4"/>
                </a:solidFill>
              </a:rPr>
              <a:t>Αρχιτεκτονικό Σχεδιάγραμμα</a:t>
            </a:r>
            <a:r>
              <a:rPr lang="en-US" sz="3300" b="1">
                <a:solidFill>
                  <a:schemeClr val="accent4"/>
                </a:solidFill>
              </a:rPr>
              <a:t> )</a:t>
            </a:r>
            <a:endParaRPr lang="el-GR" sz="3300" b="1">
              <a:solidFill>
                <a:schemeClr val="accent4"/>
              </a:solidFill>
            </a:endParaRPr>
          </a:p>
        </p:txBody>
      </p:sp>
      <p:pic>
        <p:nvPicPr>
          <p:cNvPr id="8" name="Εικόνα 7" descr="Εικόνα που περιέχει διάγραμμα, Σχέδιο, τεχνικό σχέδιο, σχηματι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AC9275DD-1703-0AFB-7807-491095330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1" y="2159330"/>
            <a:ext cx="7256003" cy="354813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54460C-06BF-F88E-A548-7004BC8B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409" y="2552475"/>
            <a:ext cx="2927185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900">
                <a:solidFill>
                  <a:schemeClr val="accent2"/>
                </a:solidFill>
              </a:rPr>
              <a:t>Βάζουμε στην είσοδο της </a:t>
            </a:r>
            <a:r>
              <a:rPr lang="en-US" sz="900">
                <a:solidFill>
                  <a:schemeClr val="accent2"/>
                </a:solidFill>
              </a:rPr>
              <a:t>FSM </a:t>
            </a:r>
            <a:r>
              <a:rPr lang="el-GR" sz="900">
                <a:solidFill>
                  <a:schemeClr val="accent2"/>
                </a:solidFill>
              </a:rPr>
              <a:t>τα 64 </a:t>
            </a:r>
            <a:r>
              <a:rPr lang="en-US" sz="900">
                <a:solidFill>
                  <a:schemeClr val="accent2"/>
                </a:solidFill>
              </a:rPr>
              <a:t>bit </a:t>
            </a:r>
            <a:r>
              <a:rPr lang="el-GR" sz="900">
                <a:solidFill>
                  <a:schemeClr val="accent2"/>
                </a:solidFill>
              </a:rPr>
              <a:t>εισόδου και τα 80 ή 128 </a:t>
            </a:r>
            <a:r>
              <a:rPr lang="en-US" sz="900">
                <a:solidFill>
                  <a:schemeClr val="accent2"/>
                </a:solidFill>
              </a:rPr>
              <a:t>bit </a:t>
            </a:r>
            <a:r>
              <a:rPr lang="el-GR" sz="900">
                <a:solidFill>
                  <a:schemeClr val="accent2"/>
                </a:solidFill>
              </a:rPr>
              <a:t>κλειδιού(ανα 16 σειριακά)</a:t>
            </a:r>
          </a:p>
          <a:p>
            <a:pPr>
              <a:lnSpc>
                <a:spcPct val="90000"/>
              </a:lnSpc>
            </a:pPr>
            <a:r>
              <a:rPr lang="el-GR" sz="900">
                <a:solidFill>
                  <a:schemeClr val="accent2"/>
                </a:solidFill>
              </a:rPr>
              <a:t>Από την έξοδο της </a:t>
            </a:r>
            <a:r>
              <a:rPr lang="en-US" sz="900">
                <a:solidFill>
                  <a:schemeClr val="accent2"/>
                </a:solidFill>
              </a:rPr>
              <a:t>FSM </a:t>
            </a:r>
            <a:r>
              <a:rPr lang="el-GR" sz="900">
                <a:solidFill>
                  <a:schemeClr val="accent2"/>
                </a:solidFill>
              </a:rPr>
              <a:t>και ανάλογα με τα αντίστοιχα σήματα που ορίζονται παρακάτω στις υλοποιήσεις των αντίστοιχων </a:t>
            </a:r>
            <a:r>
              <a:rPr lang="en-US" sz="900">
                <a:solidFill>
                  <a:schemeClr val="accent2"/>
                </a:solidFill>
              </a:rPr>
              <a:t>blocks , </a:t>
            </a:r>
            <a:r>
              <a:rPr lang="el-GR" sz="900">
                <a:solidFill>
                  <a:schemeClr val="accent2"/>
                </a:solidFill>
              </a:rPr>
              <a:t>επιλέγουμε ποιον </a:t>
            </a:r>
            <a:r>
              <a:rPr lang="en-US" sz="900">
                <a:solidFill>
                  <a:schemeClr val="accent2"/>
                </a:solidFill>
              </a:rPr>
              <a:t>key_scheduler </a:t>
            </a:r>
            <a:r>
              <a:rPr lang="el-GR" sz="900">
                <a:solidFill>
                  <a:schemeClr val="accent2"/>
                </a:solidFill>
              </a:rPr>
              <a:t>θα χρησιμοποιήσουμε, ο οποίος θα παράξει και τα αντίστοιχα </a:t>
            </a:r>
            <a:r>
              <a:rPr lang="en-US" sz="900">
                <a:solidFill>
                  <a:schemeClr val="accent2"/>
                </a:solidFill>
              </a:rPr>
              <a:t>whitening </a:t>
            </a:r>
            <a:r>
              <a:rPr lang="el-GR" sz="900">
                <a:solidFill>
                  <a:schemeClr val="accent2"/>
                </a:solidFill>
              </a:rPr>
              <a:t>και </a:t>
            </a:r>
            <a:r>
              <a:rPr lang="en-US" sz="900">
                <a:solidFill>
                  <a:schemeClr val="accent2"/>
                </a:solidFill>
              </a:rPr>
              <a:t>round keys </a:t>
            </a:r>
            <a:r>
              <a:rPr lang="el-GR" sz="900">
                <a:solidFill>
                  <a:schemeClr val="accent2"/>
                </a:solidFill>
              </a:rPr>
              <a:t>για τα στάδια </a:t>
            </a:r>
            <a:r>
              <a:rPr lang="en-US" sz="900">
                <a:solidFill>
                  <a:schemeClr val="accent2"/>
                </a:solidFill>
              </a:rPr>
              <a:t>first_round,iterative_round</a:t>
            </a:r>
            <a:r>
              <a:rPr lang="el-GR" sz="900">
                <a:solidFill>
                  <a:schemeClr val="accent2"/>
                </a:solidFill>
              </a:rPr>
              <a:t> και </a:t>
            </a:r>
            <a:r>
              <a:rPr lang="en-US" sz="900">
                <a:solidFill>
                  <a:schemeClr val="accent2"/>
                </a:solidFill>
              </a:rPr>
              <a:t>last_round.</a:t>
            </a:r>
          </a:p>
          <a:p>
            <a:pPr>
              <a:lnSpc>
                <a:spcPct val="90000"/>
              </a:lnSpc>
            </a:pPr>
            <a:r>
              <a:rPr lang="el-GR" sz="900">
                <a:solidFill>
                  <a:schemeClr val="accent2"/>
                </a:solidFill>
              </a:rPr>
              <a:t>Τοποθετούμε τα 64 </a:t>
            </a:r>
            <a:r>
              <a:rPr lang="en-US" sz="900">
                <a:solidFill>
                  <a:schemeClr val="accent2"/>
                </a:solidFill>
              </a:rPr>
              <a:t>bit data </a:t>
            </a:r>
            <a:r>
              <a:rPr lang="el-GR" sz="900">
                <a:solidFill>
                  <a:schemeClr val="accent2"/>
                </a:solidFill>
              </a:rPr>
              <a:t>στην είσοδο του </a:t>
            </a:r>
            <a:r>
              <a:rPr lang="en-US" sz="900">
                <a:solidFill>
                  <a:schemeClr val="accent2"/>
                </a:solidFill>
              </a:rPr>
              <a:t>first_round </a:t>
            </a:r>
            <a:r>
              <a:rPr lang="el-GR" sz="900">
                <a:solidFill>
                  <a:schemeClr val="accent2"/>
                </a:solidFill>
              </a:rPr>
              <a:t>και στη συνέχεια μπαίνουν επανειλλημένα για 23 </a:t>
            </a:r>
            <a:r>
              <a:rPr lang="en-US" sz="900">
                <a:solidFill>
                  <a:schemeClr val="accent2"/>
                </a:solidFill>
              </a:rPr>
              <a:t>rounds(80 bit key) </a:t>
            </a:r>
            <a:r>
              <a:rPr lang="el-GR" sz="900">
                <a:solidFill>
                  <a:schemeClr val="accent2"/>
                </a:solidFill>
              </a:rPr>
              <a:t>και 29 </a:t>
            </a:r>
            <a:r>
              <a:rPr lang="en-US" sz="900">
                <a:solidFill>
                  <a:schemeClr val="accent2"/>
                </a:solidFill>
              </a:rPr>
              <a:t>rounds(128 bit key) </a:t>
            </a:r>
            <a:r>
              <a:rPr lang="el-GR" sz="900">
                <a:solidFill>
                  <a:schemeClr val="accent2"/>
                </a:solidFill>
              </a:rPr>
              <a:t>στο </a:t>
            </a:r>
            <a:r>
              <a:rPr lang="en-US" sz="900">
                <a:solidFill>
                  <a:schemeClr val="accent2"/>
                </a:solidFill>
              </a:rPr>
              <a:t>iterative_round</a:t>
            </a:r>
            <a:r>
              <a:rPr lang="el-GR" sz="900">
                <a:solidFill>
                  <a:schemeClr val="accent2"/>
                </a:solidFill>
              </a:rPr>
              <a:t>.</a:t>
            </a:r>
            <a:endParaRPr lang="en-US" sz="90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el-GR" sz="900">
                <a:solidFill>
                  <a:schemeClr val="accent2"/>
                </a:solidFill>
              </a:rPr>
              <a:t>Στο τελευταίο στάδιο βγαίνει η έξοδος, χωρίς </a:t>
            </a:r>
            <a:r>
              <a:rPr lang="en-US" sz="900">
                <a:solidFill>
                  <a:schemeClr val="accent2"/>
                </a:solidFill>
              </a:rPr>
              <a:t>round_permutation </a:t>
            </a:r>
            <a:r>
              <a:rPr lang="el-GR" sz="900">
                <a:solidFill>
                  <a:schemeClr val="accent2"/>
                </a:solidFill>
              </a:rPr>
              <a:t>και βγαίνουν παράλληλα ανα 16 </a:t>
            </a:r>
            <a:r>
              <a:rPr lang="en-US" sz="900">
                <a:solidFill>
                  <a:schemeClr val="accent2"/>
                </a:solidFill>
              </a:rPr>
              <a:t>bit </a:t>
            </a:r>
            <a:r>
              <a:rPr lang="el-GR" sz="900">
                <a:solidFill>
                  <a:schemeClr val="accent2"/>
                </a:solidFill>
              </a:rPr>
              <a:t>τα συνολικά 64 </a:t>
            </a:r>
            <a:r>
              <a:rPr lang="en-US" sz="900">
                <a:solidFill>
                  <a:schemeClr val="accent2"/>
                </a:solidFill>
              </a:rPr>
              <a:t>bits. </a:t>
            </a:r>
          </a:p>
          <a:p>
            <a:pPr>
              <a:lnSpc>
                <a:spcPct val="90000"/>
              </a:lnSpc>
            </a:pPr>
            <a:r>
              <a:rPr lang="en-US" sz="900">
                <a:solidFill>
                  <a:schemeClr val="accent2"/>
                </a:solidFill>
              </a:rPr>
              <a:t>K</a:t>
            </a:r>
            <a:r>
              <a:rPr lang="el-GR" sz="900">
                <a:solidFill>
                  <a:schemeClr val="accent2"/>
                </a:solidFill>
              </a:rPr>
              <a:t>άθε 16αδα βγαίνει σειριακά στην έξοδο. </a:t>
            </a:r>
            <a:endParaRPr lang="en-US" sz="90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31039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AAF28-1167-5A3D-68AA-824263DC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E24DC29-C6AE-5E78-A699-4038A5AE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91" y="336645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PICCOLO_TOP.vhd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5" name="Εικόνα 4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72E1501E-0F8C-3212-8A28-94B88B232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91" y="1808731"/>
            <a:ext cx="3635055" cy="3673158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κατάλογος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A3B8AB2-E296-9ECE-5157-B9092FFDE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195" y="1431378"/>
            <a:ext cx="2377646" cy="4549534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, κατάλογο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69A391D-928D-7146-5F27-C3229222F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932" y="1930400"/>
            <a:ext cx="2309060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87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6A562C3-FE8E-490E-41C3-1300FC5A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2997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PICCOLO_TOP.vhd(</a:t>
            </a:r>
            <a:r>
              <a:rPr lang="el-GR" b="1">
                <a:solidFill>
                  <a:schemeClr val="accent4"/>
                </a:solidFill>
              </a:rPr>
              <a:t>συνέχεια)</a:t>
            </a:r>
            <a:endParaRPr lang="el-GR" b="1"/>
          </a:p>
        </p:txBody>
      </p:sp>
      <p:pic>
        <p:nvPicPr>
          <p:cNvPr id="5" name="Θέση περιεχομένου 4" descr="Εικόνα που περιέχει κείμενο, στιγμιότυπο οθόνης, γραμματοσειρά, κατάλογο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84FAF40-21A7-CDB3-017B-ED10CB7A0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52454"/>
            <a:ext cx="2270957" cy="3353091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γραμματοσειρά, κατάλογο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37165A5-B76E-B3B4-865F-5810E040B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842" y="1395152"/>
            <a:ext cx="2347163" cy="5273497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630F2AF3-F9D9-0EF9-ED8A-E6DE2878E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003" y="1270000"/>
            <a:ext cx="4313294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8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CFAE734-AA0F-104C-1D96-CA4F1DF2A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7147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FSM.</a:t>
            </a:r>
            <a:r>
              <a:rPr lang="en-US" b="1" dirty="0" err="1">
                <a:solidFill>
                  <a:schemeClr val="accent4"/>
                </a:solidFill>
              </a:rPr>
              <a:t>vhd</a:t>
            </a:r>
            <a:br>
              <a:rPr lang="en-US" dirty="0"/>
            </a:br>
            <a:endParaRPr lang="el-GR" dirty="0"/>
          </a:p>
        </p:txBody>
      </p:sp>
      <p:pic>
        <p:nvPicPr>
          <p:cNvPr id="4" name="Εικόνα 3" descr="Εικόνα που περιέχει κείμενο, στιγμιότυπο οθόνης, κατάλογο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94BA677-6ED0-9316-DD1A-88292D4DA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151725"/>
            <a:ext cx="3593215" cy="5555401"/>
          </a:xfrm>
          <a:prstGeom prst="rect">
            <a:avLst/>
          </a:prstGeom>
        </p:spPr>
      </p:pic>
      <p:pic>
        <p:nvPicPr>
          <p:cNvPr id="6" name="Εικόνα 5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3ADAE38-8430-50C9-BB67-EDC600202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46" y="1151725"/>
            <a:ext cx="2827265" cy="5197290"/>
          </a:xfrm>
          <a:prstGeom prst="rect">
            <a:avLst/>
          </a:prstGeom>
        </p:spPr>
      </p:pic>
      <p:pic>
        <p:nvPicPr>
          <p:cNvPr id="8" name="Εικόνα 7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719DB18-8740-668C-1938-4EA6847C5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451" y="1405390"/>
            <a:ext cx="3383143" cy="519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41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06BB24B-2C1F-5C09-1A07-6E6E2870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77" y="718783"/>
            <a:ext cx="8230692" cy="845574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FSM.vhd</a:t>
            </a:r>
            <a:endParaRPr lang="el-GR" b="1">
              <a:solidFill>
                <a:schemeClr val="accent4"/>
              </a:solidFill>
            </a:endParaRPr>
          </a:p>
        </p:txBody>
      </p:sp>
      <p:pic>
        <p:nvPicPr>
          <p:cNvPr id="9" name="Θέση περιεχομένου 8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6BB3F42-1D5C-37BA-D397-65E246851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9696" y="1939524"/>
            <a:ext cx="3735518" cy="3881437"/>
          </a:xfrm>
          <a:prstGeom prst="rect">
            <a:avLst/>
          </a:prstGeom>
        </p:spPr>
      </p:pic>
      <p:pic>
        <p:nvPicPr>
          <p:cNvPr id="5" name="Εικόνα 4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EF1F8A5-A633-3D37-BDC0-7C22DF09E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77" y="2188388"/>
            <a:ext cx="2636748" cy="3425136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0AE571E-9AC4-1AD7-AD78-1D5FFE6C8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278" y="2188387"/>
            <a:ext cx="4084674" cy="328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1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B29F2FE-BF42-473E-25B5-F4A4A550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74" y="275408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KEY_SCHEDULER_80.</a:t>
            </a:r>
            <a:r>
              <a:rPr lang="en-US" b="1" dirty="0" err="1">
                <a:solidFill>
                  <a:schemeClr val="accent4"/>
                </a:solidFill>
              </a:rPr>
              <a:t>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5" name="Εικόνα 4" descr="Εικόνα που περιέχει κείμενο, στιγμιότυπο οθόνης, κατάλογο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16F5C21-0C3A-4C33-D713-D60768151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1" y="1831061"/>
            <a:ext cx="3406435" cy="4480948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κατάλογο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8E45035-04B8-E057-68F0-ED4AF936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921" y="2402610"/>
            <a:ext cx="4059406" cy="3665584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7136BB8B-A3D1-B015-27AE-56FFA40D3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327" y="2402610"/>
            <a:ext cx="4305673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96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DDE0AAD-5278-3131-A756-13E9AB679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0292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KEY_SCHEDULER_128.</a:t>
            </a:r>
            <a:r>
              <a:rPr lang="en-US" b="1" dirty="0" err="1">
                <a:solidFill>
                  <a:schemeClr val="accent4"/>
                </a:solidFill>
              </a:rPr>
              <a:t>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4" name="Εικόνα 3" descr="Εικόνα που περιέχει κείμενο, στιγμιότυπο οθόνης, γραμματοσειρά, κατάλογο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F9A1514-4B7D-5048-ED38-A33810E00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73528"/>
            <a:ext cx="3444538" cy="5121084"/>
          </a:xfrm>
          <a:prstGeom prst="rect">
            <a:avLst/>
          </a:prstGeom>
        </p:spPr>
      </p:pic>
      <p:pic>
        <p:nvPicPr>
          <p:cNvPr id="6" name="Εικόνα 5" descr="Εικόνα που περιέχει κείμενο, στιγμιότυπο οθόνης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E60AFFF-81A7-7E29-2AE9-2F1D5DBE8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522" y="1573528"/>
            <a:ext cx="6645216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05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CF0208B-610C-6B0F-9349-2EFC1AE8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85" y="387852"/>
            <a:ext cx="8596668" cy="871676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KEY_SCHEDULER_128.vhd</a:t>
            </a:r>
            <a:endParaRPr lang="el-GR" b="1"/>
          </a:p>
        </p:txBody>
      </p:sp>
      <p:pic>
        <p:nvPicPr>
          <p:cNvPr id="5" name="Εικόνα 4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E5DB60F-23A9-AD2F-C3E4-5C9F427E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91" y="1730442"/>
            <a:ext cx="4000847" cy="4397121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102733F2-0225-82D7-5AFF-87CBFB7F5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502" y="1805349"/>
            <a:ext cx="3787962" cy="3536826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F05004B-E3FD-C25E-7C07-002E5CFDD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157" y="1554822"/>
            <a:ext cx="3551228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05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03368B3-76B6-0998-953B-6DC714F9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19580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FIRST_ROUND.</a:t>
            </a:r>
            <a:r>
              <a:rPr lang="en-US" b="1" dirty="0" err="1">
                <a:solidFill>
                  <a:schemeClr val="accent4"/>
                </a:solidFill>
              </a:rPr>
              <a:t>vhd</a:t>
            </a:r>
            <a:endParaRPr lang="el-GR" b="1" dirty="0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DE13EE8-685B-BC63-35A8-52699311F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l-GR" dirty="0">
              <a:solidFill>
                <a:schemeClr val="accent1"/>
              </a:solidFill>
            </a:endParaRPr>
          </a:p>
        </p:txBody>
      </p:sp>
      <p:pic>
        <p:nvPicPr>
          <p:cNvPr id="5" name="Εικόνα 4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F1ADA49-C7A2-0453-CAC7-101262C08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400"/>
            <a:ext cx="3513124" cy="2042337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24F75314-8B53-C7A6-03CA-21BFE3FE4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919" y="1928128"/>
            <a:ext cx="3010161" cy="4054191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E5826DE-8C72-C0E2-4E45-B7D5974F2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753" y="1930640"/>
            <a:ext cx="3375953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28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0DFF6DC-29EF-3F48-35D2-327C337F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92" y="212245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ITERATIVE_ROUND.vhd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4" name="Εικόνα 3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18386BC1-2157-4006-2DC0-22C1F05D1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" b="-1"/>
          <a:stretch>
            <a:fillRect/>
          </a:stretch>
        </p:blipFill>
        <p:spPr>
          <a:xfrm>
            <a:off x="400292" y="1214651"/>
            <a:ext cx="4511431" cy="5431104"/>
          </a:xfrm>
          <a:prstGeom prst="rect">
            <a:avLst/>
          </a:prstGeom>
        </p:spPr>
      </p:pic>
      <p:pic>
        <p:nvPicPr>
          <p:cNvPr id="6" name="Εικόνα 5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B495D4D-9116-8E4D-F2B2-E393A3CDC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846" y="3315526"/>
            <a:ext cx="5471634" cy="3330229"/>
          </a:xfrm>
          <a:prstGeom prst="rect">
            <a:avLst/>
          </a:prstGeom>
        </p:spPr>
      </p:pic>
      <p:pic>
        <p:nvPicPr>
          <p:cNvPr id="8" name="Εικόνα 7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123A090-5F04-8C3C-A757-AD010D6658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0"/>
          <a:stretch>
            <a:fillRect/>
          </a:stretch>
        </p:blipFill>
        <p:spPr>
          <a:xfrm>
            <a:off x="6096000" y="1091401"/>
            <a:ext cx="2900960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45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5EF5318-673C-76FD-53E8-A1E3553A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70" y="309349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LAST_ROUND.</a:t>
            </a:r>
            <a:r>
              <a:rPr lang="en-US" b="1" dirty="0" err="1">
                <a:solidFill>
                  <a:schemeClr val="accent4"/>
                </a:solidFill>
              </a:rPr>
              <a:t>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5" name="Εικόνα 4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5690783-FF31-B2F5-BEBA-93EF17FF6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70" y="1483956"/>
            <a:ext cx="3520745" cy="2865368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BDB12A1-DCFA-A082-AA8A-4AA9E90CE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439" y="1270000"/>
            <a:ext cx="5464013" cy="4930567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5654D3C-6AE4-EF90-888A-54CD40D67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699" y="1483956"/>
            <a:ext cx="2324301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32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C558919-99D4-AC9D-90B2-CCE2F2A1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FUNCTION_F.</a:t>
            </a:r>
            <a:r>
              <a:rPr lang="en-US" b="1" err="1">
                <a:solidFill>
                  <a:schemeClr val="accent4"/>
                </a:solidFill>
              </a:rPr>
              <a:t>vhd</a:t>
            </a:r>
            <a:r>
              <a:rPr lang="en-US" b="1">
                <a:solidFill>
                  <a:schemeClr val="accent4"/>
                </a:solidFill>
              </a:rPr>
              <a:t> 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5" name="Θέση περιεχομένου 4" descr="Εικόνα που περιέχει κείμενο, γραμματοσειρά, στιγμιότυπο οθόνης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1281F2E-6EF1-921F-07E9-ACB408D01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50549"/>
            <a:ext cx="3673158" cy="853514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777D85C-7DB8-111F-B8AD-E12F6008B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224213"/>
            <a:ext cx="4376447" cy="3619772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186698D-34D3-4B9C-731C-4CEE15EA9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968" y="2150549"/>
            <a:ext cx="5121084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67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40C58A8-2B2F-86D5-5666-A30227AA1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42" y="309350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SBOX_4BIT.</a:t>
            </a:r>
            <a:r>
              <a:rPr lang="en-US" b="1" dirty="0" err="1">
                <a:solidFill>
                  <a:schemeClr val="accent4"/>
                </a:solidFill>
              </a:rPr>
              <a:t>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5" name="Εικόνα 4" descr="Εικόνα που περιέχει κείμενο, στιγμιότυπο οθόνης, κατάλογος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3FB05B7-3D23-6CFB-17F7-FD2516752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42" y="1446663"/>
            <a:ext cx="5231357" cy="52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74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B094C6A-1D2A-3258-D97A-E8EBA818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962" y="399707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RP.</a:t>
            </a:r>
            <a:r>
              <a:rPr lang="en-US" b="1" dirty="0" err="1">
                <a:solidFill>
                  <a:schemeClr val="accent4"/>
                </a:solidFill>
              </a:rPr>
              <a:t>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5" name="Εικόνα 4" descr="Εικόνα που περιέχει κείμενο, στιγμιότυπο οθόνης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8FBBD54-2764-42CE-6149-53E6D3D3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7"/>
          <a:stretch>
            <a:fillRect/>
          </a:stretch>
        </p:blipFill>
        <p:spPr>
          <a:xfrm>
            <a:off x="607962" y="1433015"/>
            <a:ext cx="4900085" cy="502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69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C0E8CC4-359F-186A-71E3-F61EC9BC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95952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PICCOLO_TOP_TB.vhd</a:t>
            </a:r>
            <a:endParaRPr lang="el-GR" b="1" dirty="0">
              <a:solidFill>
                <a:schemeClr val="accent4"/>
              </a:solidFill>
            </a:endParaRPr>
          </a:p>
        </p:txBody>
      </p:sp>
      <p:pic>
        <p:nvPicPr>
          <p:cNvPr id="5" name="Εικόνα 4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1D7036B-4C2E-4316-0AB4-64229EFB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25828"/>
            <a:ext cx="2530059" cy="1729890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28E3C88-81F0-F3C4-925C-4A9F124D5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393" y="2125828"/>
            <a:ext cx="4191363" cy="3093988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F2F3577-4078-EF11-68C4-E58B893C9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401" y="2152867"/>
            <a:ext cx="4244708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41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7CE5-A8AD-D7EB-C05A-2F5E2023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3757-84CD-8F61-E192-509A215EC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459" y="623247"/>
            <a:ext cx="8596668" cy="1320800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PICCOLO_TOP_TB.vhd</a:t>
            </a:r>
            <a:endParaRPr b="1">
              <a:solidFill>
                <a:schemeClr val="accent4"/>
              </a:solidFill>
            </a:endParaRPr>
          </a:p>
        </p:txBody>
      </p:sp>
      <p:pic>
        <p:nvPicPr>
          <p:cNvPr id="7" name="Εικόνα 6" descr="Εικόνα που περιέχει κείμενο, στιγμιότυπο οθόνης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6730029-1683-D650-A7D0-06A4F9EA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59" y="2245800"/>
            <a:ext cx="4168501" cy="3093988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9A546AD-0567-5612-9B20-EEC526055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2245800"/>
            <a:ext cx="5075360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04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803" y="1914144"/>
            <a:ext cx="10450236" cy="1819656"/>
          </a:xfrm>
        </p:spPr>
        <p:txBody>
          <a:bodyPr/>
          <a:lstStyle/>
          <a:p>
            <a:pPr algn="l"/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804" y="4802374"/>
            <a:ext cx="9522188" cy="8869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l-GR" sz="4000">
                <a:solidFill>
                  <a:schemeClr val="accent4"/>
                </a:solidFill>
              </a:rPr>
              <a:t>Προσομοίωση Αρχιτεκτονικής Σχεδίασης</a:t>
            </a:r>
            <a:r>
              <a:rPr lang="en-US" sz="4000">
                <a:solidFill>
                  <a:schemeClr val="accent4"/>
                </a:solidFill>
              </a:rPr>
              <a:t> </a:t>
            </a:r>
            <a:r>
              <a:rPr lang="el-GR" sz="4000">
                <a:solidFill>
                  <a:schemeClr val="accent4"/>
                </a:solidFill>
              </a:rPr>
              <a:t>Αλγορίθμου</a:t>
            </a:r>
            <a:r>
              <a:rPr lang="en-US" sz="4000">
                <a:solidFill>
                  <a:schemeClr val="accent4"/>
                </a:solidFill>
              </a:rPr>
              <a:t>-ModelSim</a:t>
            </a:r>
            <a:r>
              <a:rPr lang="el-GR" sz="4000">
                <a:solidFill>
                  <a:schemeClr val="accent4"/>
                </a:solidFill>
              </a:rPr>
              <a:t> </a:t>
            </a:r>
            <a:endParaRPr sz="40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D024AF5-663C-427C-5601-A580B59E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03242" cy="1461912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: An Ultra-Lightweight Blockcipher</a:t>
            </a:r>
            <a:r>
              <a:rPr lang="el-GR" b="1"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/ Encryption Mode 80-bit key </a:t>
            </a:r>
            <a:b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</a:br>
            <a:r>
              <a:rPr lang="en-US" b="1">
                <a:solidFill>
                  <a:schemeClr val="accent4"/>
                </a:solidFill>
                <a:latin typeface="Arial" panose="020B0604020202020204" pitchFamily="34" charset="0"/>
              </a:rPr>
              <a:t>Piccolo Top : Inputs (data_in16,key_in16)</a:t>
            </a:r>
            <a:endParaRPr lang="el-GR" dirty="0">
              <a:solidFill>
                <a:schemeClr val="accent4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E49DCE9-A07D-3BBF-6294-AFF1F7B11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881768"/>
            <a:ext cx="9064074" cy="1749552"/>
          </a:xfrm>
        </p:spPr>
        <p:txBody>
          <a:bodyPr/>
          <a:lstStyle/>
          <a:p>
            <a:endParaRPr lang="en-US" dirty="0">
              <a:solidFill>
                <a:schemeClr val="accent2"/>
              </a:solidFill>
            </a:endParaRPr>
          </a:p>
          <a:p>
            <a:r>
              <a:rPr lang="el-GR">
                <a:solidFill>
                  <a:schemeClr val="accent2"/>
                </a:solidFill>
              </a:rPr>
              <a:t>Στο παραπάνω </a:t>
            </a:r>
            <a:r>
              <a:rPr lang="en-US">
                <a:solidFill>
                  <a:schemeClr val="accent2"/>
                </a:solidFill>
              </a:rPr>
              <a:t>testbench </a:t>
            </a:r>
            <a:r>
              <a:rPr lang="el-GR">
                <a:solidFill>
                  <a:schemeClr val="accent2"/>
                </a:solidFill>
              </a:rPr>
              <a:t>παρουσιάζεται η σειριακή φόρτωση των εισόδων ανά 16-</a:t>
            </a:r>
            <a:r>
              <a:rPr lang="en-US">
                <a:solidFill>
                  <a:schemeClr val="accent2"/>
                </a:solidFill>
              </a:rPr>
              <a:t>bit</a:t>
            </a:r>
            <a:r>
              <a:rPr lang="el-GR">
                <a:solidFill>
                  <a:schemeClr val="accent2"/>
                </a:solidFill>
              </a:rPr>
              <a:t> για την </a:t>
            </a:r>
            <a:r>
              <a:rPr lang="en-US">
                <a:solidFill>
                  <a:schemeClr val="accent2"/>
                </a:solidFill>
              </a:rPr>
              <a:t>encryption </a:t>
            </a:r>
            <a:r>
              <a:rPr lang="el-GR">
                <a:solidFill>
                  <a:schemeClr val="accent2"/>
                </a:solidFill>
              </a:rPr>
              <a:t>λειτουργία 80-</a:t>
            </a:r>
            <a:r>
              <a:rPr lang="en-US">
                <a:solidFill>
                  <a:schemeClr val="accent2"/>
                </a:solidFill>
              </a:rPr>
              <a:t>bit key </a:t>
            </a:r>
            <a:r>
              <a:rPr lang="el-GR">
                <a:solidFill>
                  <a:schemeClr val="accent2"/>
                </a:solidFill>
              </a:rPr>
              <a:t>του αλγορίθμου.</a:t>
            </a:r>
            <a:endParaRPr lang="el-GR" dirty="0">
              <a:solidFill>
                <a:schemeClr val="accent2"/>
              </a:solidFill>
            </a:endParaRP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F02D02E2-2464-9C3C-51B2-07527DC9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999006"/>
            <a:ext cx="10984992" cy="146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78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F289BC6-991C-244C-0AF3-E9F93866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88586" cy="1541996"/>
          </a:xfrm>
        </p:spPr>
        <p:txBody>
          <a:bodyPr anchor="t">
            <a:normAutofit fontScale="90000"/>
          </a:bodyPr>
          <a:lstStyle/>
          <a:p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: An Ultra-Lightweight Blockcipher</a:t>
            </a:r>
            <a:r>
              <a:rPr kumimoji="0" lang="el-GR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/ Encryption Mode 80-bit key </a:t>
            </a:r>
            <a:b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Top : Output (cipher_out16)</a:t>
            </a:r>
            <a:endParaRPr lang="el-GR" dirty="0">
              <a:solidFill>
                <a:schemeClr val="accent4"/>
              </a:solidFill>
            </a:endParaRPr>
          </a:p>
        </p:txBody>
      </p:sp>
      <p:pic>
        <p:nvPicPr>
          <p:cNvPr id="13" name="Θέση περιεχομένου 12" descr="Εικόνα που περιέχει στιγμιότυπο οθόνης, γραμμή, λογισμικό πολυμέσων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2E2F24B-F046-21D4-A721-647A505A1D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767586"/>
            <a:ext cx="10076010" cy="1541996"/>
          </a:xfrm>
        </p:spPr>
      </p:pic>
      <p:sp>
        <p:nvSpPr>
          <p:cNvPr id="14" name="Θέση περιεχομένου 13">
            <a:extLst>
              <a:ext uri="{FF2B5EF4-FFF2-40B4-BE49-F238E27FC236}">
                <a16:creationId xmlns:a16="http://schemas.microsoft.com/office/drawing/2014/main" id="{1A33EFEA-2091-5A2D-EA7E-551EA338B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120640"/>
            <a:ext cx="9003114" cy="1469362"/>
          </a:xfrm>
        </p:spPr>
        <p:txBody>
          <a:bodyPr>
            <a:normAutofit/>
          </a:bodyPr>
          <a:lstStyle/>
          <a:p>
            <a:r>
              <a:rPr lang="el-GR">
                <a:solidFill>
                  <a:schemeClr val="accent2"/>
                </a:solidFill>
              </a:rPr>
              <a:t>Στο παραπάνω </a:t>
            </a:r>
            <a:r>
              <a:rPr lang="en-US">
                <a:solidFill>
                  <a:schemeClr val="accent2"/>
                </a:solidFill>
              </a:rPr>
              <a:t>testbench </a:t>
            </a:r>
            <a:r>
              <a:rPr lang="el-GR">
                <a:solidFill>
                  <a:schemeClr val="accent2"/>
                </a:solidFill>
              </a:rPr>
              <a:t>παρουσιάζεται η σειριακή εκφόρτωση της εξόδου ανά 16-</a:t>
            </a:r>
            <a:r>
              <a:rPr lang="en-US">
                <a:solidFill>
                  <a:schemeClr val="accent2"/>
                </a:solidFill>
              </a:rPr>
              <a:t>bit</a:t>
            </a:r>
            <a:r>
              <a:rPr lang="el-GR">
                <a:solidFill>
                  <a:schemeClr val="accent2"/>
                </a:solidFill>
              </a:rPr>
              <a:t> για την </a:t>
            </a:r>
            <a:r>
              <a:rPr lang="en-US">
                <a:solidFill>
                  <a:schemeClr val="accent2"/>
                </a:solidFill>
              </a:rPr>
              <a:t>encryption </a:t>
            </a:r>
            <a:r>
              <a:rPr lang="el-GR">
                <a:solidFill>
                  <a:schemeClr val="accent2"/>
                </a:solidFill>
              </a:rPr>
              <a:t>λειτουργία 80-</a:t>
            </a:r>
            <a:r>
              <a:rPr lang="en-US">
                <a:solidFill>
                  <a:schemeClr val="accent2"/>
                </a:solidFill>
              </a:rPr>
              <a:t>bit key </a:t>
            </a:r>
            <a:r>
              <a:rPr lang="el-GR">
                <a:solidFill>
                  <a:schemeClr val="accent2"/>
                </a:solidFill>
              </a:rPr>
              <a:t>του αλγορίθμου.</a:t>
            </a: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08347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375981-60A5-683C-EDD6-472A98DD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710506" cy="1365504"/>
          </a:xfrm>
        </p:spPr>
        <p:txBody>
          <a:bodyPr>
            <a:noAutofit/>
          </a:bodyPr>
          <a:lstStyle/>
          <a:p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: An Ultra-Lightweight Blockcipher</a:t>
            </a:r>
            <a:r>
              <a:rPr kumimoji="0" lang="el-GR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/ Decryption Mode </a:t>
            </a:r>
            <a:r>
              <a:rPr lang="el-GR" sz="3200" b="1">
                <a:solidFill>
                  <a:srgbClr val="EC7016"/>
                </a:solidFill>
                <a:latin typeface="Arial" panose="020B0604020202020204" pitchFamily="34" charset="0"/>
              </a:rPr>
              <a:t>80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-bit key </a:t>
            </a:r>
            <a:b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Top : Inputs (data_in16,key_in16)</a:t>
            </a:r>
            <a:endParaRPr lang="el-GR" sz="3200"/>
          </a:p>
        </p:txBody>
      </p:sp>
      <p:pic>
        <p:nvPicPr>
          <p:cNvPr id="6" name="Θέση περιεχομένου 5" descr="Εικόνα που περιέχει στιγμιότυπο οθόνης, λογισμικό πολυμέσων, λογισμικό γραφικών, γραμμή">
            <a:extLst>
              <a:ext uri="{FF2B5EF4-FFF2-40B4-BE49-F238E27FC236}">
                <a16:creationId xmlns:a16="http://schemas.microsoft.com/office/drawing/2014/main" id="{CF629C9D-A9AB-4E5C-F94D-359687D8BD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906298"/>
            <a:ext cx="10900293" cy="1473678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5FCAB15-E384-5EAB-EE5C-0728F5889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030754"/>
            <a:ext cx="7091635" cy="147367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CA08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Στο παραπάνω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testbench 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παρουσιάζεται η σειριακή φόρτωση τ</a:t>
            </a:r>
            <a:r>
              <a:rPr lang="el-GR">
                <a:solidFill>
                  <a:srgbClr val="F8931D"/>
                </a:solidFill>
                <a:latin typeface="Trebuchet MS" panose="020B0603020202020204"/>
              </a:rPr>
              <a:t>ων εισόδων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ανά 16-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bit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για την </a:t>
            </a:r>
            <a:r>
              <a:rPr lang="en-US">
                <a:solidFill>
                  <a:srgbClr val="F8931D"/>
                </a:solidFill>
                <a:latin typeface="Trebuchet MS" panose="020B0603020202020204"/>
              </a:rPr>
              <a:t>decryption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λειτουργία 80-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bit key 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του αλγορίθμου.</a:t>
            </a: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6313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2438058-7789-8E7D-29E2-9C50276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5488"/>
            <a:ext cx="8596668" cy="1320800"/>
          </a:xfrm>
        </p:spPr>
        <p:txBody>
          <a:bodyPr>
            <a:noAutofit/>
          </a:bodyPr>
          <a:lstStyle/>
          <a:p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: An Ultra-Lightweight Blockcipher</a:t>
            </a:r>
            <a:r>
              <a:rPr kumimoji="0" lang="el-GR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/ Decryption Mode 80-bit key </a:t>
            </a:r>
            <a:b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Top : Output (cipher_out16)</a:t>
            </a:r>
            <a:endParaRPr lang="el-GR" sz="3200"/>
          </a:p>
        </p:txBody>
      </p:sp>
      <p:pic>
        <p:nvPicPr>
          <p:cNvPr id="6" name="Θέση περιεχομένου 5" descr="Εικόνα που περιέχει στιγμιότυπο οθόνης, γραμμή, λογισμικό πολυμέσων, λογισμικό γραφικών">
            <a:extLst>
              <a:ext uri="{FF2B5EF4-FFF2-40B4-BE49-F238E27FC236}">
                <a16:creationId xmlns:a16="http://schemas.microsoft.com/office/drawing/2014/main" id="{3275CA7A-4859-3C69-7E6C-1880BF484F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559303"/>
            <a:ext cx="9066638" cy="1479249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C5F09C2-5DEA-C79A-8745-AE129E6DA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4801567"/>
            <a:ext cx="9613078" cy="2190466"/>
          </a:xfrm>
        </p:spPr>
        <p:txBody>
          <a:bodyPr>
            <a:normAutofit/>
          </a:bodyPr>
          <a:lstStyle/>
          <a:p>
            <a:r>
              <a:rPr lang="el-GR">
                <a:solidFill>
                  <a:srgbClr val="F8931D"/>
                </a:solidFill>
              </a:rPr>
              <a:t>Στο παραπάνω </a:t>
            </a:r>
            <a:r>
              <a:rPr lang="en-US">
                <a:solidFill>
                  <a:srgbClr val="F8931D"/>
                </a:solidFill>
              </a:rPr>
              <a:t>testbench </a:t>
            </a:r>
            <a:r>
              <a:rPr lang="el-GR">
                <a:solidFill>
                  <a:srgbClr val="F8931D"/>
                </a:solidFill>
              </a:rPr>
              <a:t>παρουσιάζεται η σειριακή εφόρτωση της εξόδου ανά 16-</a:t>
            </a:r>
            <a:r>
              <a:rPr lang="en-US">
                <a:solidFill>
                  <a:srgbClr val="F8931D"/>
                </a:solidFill>
              </a:rPr>
              <a:t>bit</a:t>
            </a:r>
            <a:r>
              <a:rPr lang="el-GR">
                <a:solidFill>
                  <a:srgbClr val="F8931D"/>
                </a:solidFill>
              </a:rPr>
              <a:t> για την </a:t>
            </a:r>
            <a:r>
              <a:rPr lang="en-US">
                <a:solidFill>
                  <a:srgbClr val="F8931D"/>
                </a:solidFill>
              </a:rPr>
              <a:t>decryption </a:t>
            </a:r>
            <a:r>
              <a:rPr lang="el-GR">
                <a:solidFill>
                  <a:srgbClr val="F8931D"/>
                </a:solidFill>
              </a:rPr>
              <a:t>λειτουργία 80-</a:t>
            </a:r>
            <a:r>
              <a:rPr lang="en-US">
                <a:solidFill>
                  <a:srgbClr val="F8931D"/>
                </a:solidFill>
              </a:rPr>
              <a:t>bit key </a:t>
            </a:r>
            <a:r>
              <a:rPr lang="el-GR">
                <a:solidFill>
                  <a:srgbClr val="F8931D"/>
                </a:solidFill>
              </a:rPr>
              <a:t>του αλγορίθμου. Παρατηρούμε στο τέλος της ημιπεριόδου εκφόρτωσης της τελευταίας 16αδας της εξόδου την ενεργοποίηση του σήματος </a:t>
            </a:r>
            <a:r>
              <a:rPr lang="en-US">
                <a:solidFill>
                  <a:srgbClr val="F8931D"/>
                </a:solidFill>
              </a:rPr>
              <a:t>done </a:t>
            </a:r>
            <a:r>
              <a:rPr lang="el-GR">
                <a:solidFill>
                  <a:srgbClr val="F8931D"/>
                </a:solidFill>
              </a:rPr>
              <a:t>ως ένδειξη ολοκλήρωσης της διαδικασίας και την απενεργοποίηση του σήματος </a:t>
            </a:r>
            <a:r>
              <a:rPr lang="en-US">
                <a:solidFill>
                  <a:srgbClr val="F8931D"/>
                </a:solidFill>
              </a:rPr>
              <a:t>decrypt </a:t>
            </a:r>
            <a:r>
              <a:rPr lang="el-GR">
                <a:solidFill>
                  <a:srgbClr val="F8931D"/>
                </a:solidFill>
              </a:rPr>
              <a:t>που επιτρέπει στην </a:t>
            </a:r>
            <a:r>
              <a:rPr lang="en-US">
                <a:solidFill>
                  <a:srgbClr val="F8931D"/>
                </a:solidFill>
              </a:rPr>
              <a:t>FSM </a:t>
            </a:r>
            <a:r>
              <a:rPr lang="el-GR">
                <a:solidFill>
                  <a:srgbClr val="F8931D"/>
                </a:solidFill>
              </a:rPr>
              <a:t>να γυρίσει στην αρχική κατάσταση στην οποία θα αποφανθεί το επόμενο </a:t>
            </a:r>
            <a:r>
              <a:rPr lang="en-US">
                <a:solidFill>
                  <a:srgbClr val="F8931D"/>
                </a:solidFill>
              </a:rPr>
              <a:t>mode(encrypt/decrypt).</a:t>
            </a:r>
            <a:endParaRPr lang="el-GR">
              <a:solidFill>
                <a:srgbClr val="F8931D"/>
              </a:solidFill>
            </a:endParaRP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5002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CB57BC7-9862-FE44-285F-039C6E7A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6" y="459474"/>
            <a:ext cx="8596668" cy="1515630"/>
          </a:xfrm>
        </p:spPr>
        <p:txBody>
          <a:bodyPr>
            <a:noAutofit/>
          </a:bodyPr>
          <a:lstStyle/>
          <a:p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: An Ultra-Lightweight Blockcipher</a:t>
            </a:r>
            <a:r>
              <a:rPr kumimoji="0" lang="el-GR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/ Encryption Mode </a:t>
            </a:r>
            <a:r>
              <a:rPr lang="en-US" sz="3200" b="1">
                <a:solidFill>
                  <a:srgbClr val="EC7016"/>
                </a:solidFill>
                <a:latin typeface="Arial" panose="020B0604020202020204" pitchFamily="34" charset="0"/>
              </a:rPr>
              <a:t>128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-bit key </a:t>
            </a:r>
            <a:b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Top : Inputs (data_in16,key_in16)</a:t>
            </a:r>
            <a:endParaRPr lang="el-GR" sz="3200"/>
          </a:p>
        </p:txBody>
      </p:sp>
      <p:pic>
        <p:nvPicPr>
          <p:cNvPr id="6" name="Θέση περιεχομένου 5" descr="Εικόνα που περιέχει λογισμικό πολυμέσων, λογισμικό, λογισμικό γραφικών, στιγμιότυπο οθόνης">
            <a:extLst>
              <a:ext uri="{FF2B5EF4-FFF2-40B4-BE49-F238E27FC236}">
                <a16:creationId xmlns:a16="http://schemas.microsoft.com/office/drawing/2014/main" id="{3B5672A8-FDB2-86B8-360A-4383C4FAAC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6" y="2822368"/>
            <a:ext cx="10793373" cy="1413302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066CE7-D3DB-4ABA-32C1-987EBAA06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6" y="5082934"/>
            <a:ext cx="9790497" cy="1315592"/>
          </a:xfrm>
        </p:spPr>
        <p:txBody>
          <a:bodyPr/>
          <a:lstStyle/>
          <a:p>
            <a:r>
              <a:rPr lang="el-GR">
                <a:solidFill>
                  <a:srgbClr val="F8931D"/>
                </a:solidFill>
              </a:rPr>
              <a:t>Στο παραπάνω </a:t>
            </a:r>
            <a:r>
              <a:rPr lang="en-US">
                <a:solidFill>
                  <a:srgbClr val="F8931D"/>
                </a:solidFill>
              </a:rPr>
              <a:t>testbench</a:t>
            </a:r>
            <a:r>
              <a:rPr lang="el-GR">
                <a:solidFill>
                  <a:srgbClr val="F8931D"/>
                </a:solidFill>
              </a:rPr>
              <a:t> με την ένδειξη του</a:t>
            </a:r>
            <a:r>
              <a:rPr lang="en-US">
                <a:solidFill>
                  <a:srgbClr val="F8931D"/>
                </a:solidFill>
              </a:rPr>
              <a:t> control signal</a:t>
            </a:r>
            <a:r>
              <a:rPr lang="el-GR">
                <a:solidFill>
                  <a:srgbClr val="F8931D"/>
                </a:solidFill>
              </a:rPr>
              <a:t> </a:t>
            </a:r>
            <a:r>
              <a:rPr lang="en-US">
                <a:solidFill>
                  <a:srgbClr val="F8931D"/>
                </a:solidFill>
              </a:rPr>
              <a:t>start, </a:t>
            </a:r>
            <a:r>
              <a:rPr lang="el-GR">
                <a:solidFill>
                  <a:srgbClr val="F8931D"/>
                </a:solidFill>
              </a:rPr>
              <a:t>παρουσιάζεται η σειριακή φόρτωση των εισόδων ανά 16-</a:t>
            </a:r>
            <a:r>
              <a:rPr lang="en-US">
                <a:solidFill>
                  <a:srgbClr val="F8931D"/>
                </a:solidFill>
              </a:rPr>
              <a:t>bit</a:t>
            </a:r>
            <a:r>
              <a:rPr lang="el-GR">
                <a:solidFill>
                  <a:srgbClr val="F8931D"/>
                </a:solidFill>
              </a:rPr>
              <a:t> για την </a:t>
            </a:r>
            <a:r>
              <a:rPr lang="en-US">
                <a:solidFill>
                  <a:srgbClr val="F8931D"/>
                </a:solidFill>
              </a:rPr>
              <a:t>encryption </a:t>
            </a:r>
            <a:r>
              <a:rPr lang="el-GR">
                <a:solidFill>
                  <a:srgbClr val="F8931D"/>
                </a:solidFill>
              </a:rPr>
              <a:t>λειτουργία </a:t>
            </a:r>
            <a:r>
              <a:rPr lang="en-US">
                <a:solidFill>
                  <a:srgbClr val="F8931D"/>
                </a:solidFill>
              </a:rPr>
              <a:t>128</a:t>
            </a:r>
            <a:r>
              <a:rPr lang="el-GR">
                <a:solidFill>
                  <a:srgbClr val="F8931D"/>
                </a:solidFill>
              </a:rPr>
              <a:t>-</a:t>
            </a:r>
            <a:r>
              <a:rPr lang="en-US">
                <a:solidFill>
                  <a:srgbClr val="F8931D"/>
                </a:solidFill>
              </a:rPr>
              <a:t>bit key </a:t>
            </a:r>
            <a:r>
              <a:rPr lang="el-GR">
                <a:solidFill>
                  <a:srgbClr val="F8931D"/>
                </a:solidFill>
              </a:rPr>
              <a:t>του αλγορίθμου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89038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4822261-18D2-1611-3B4D-23FCC6A5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599"/>
            <a:ext cx="8725973" cy="155098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: An Ultra-Lightweight Blockcipher</a:t>
            </a:r>
            <a:r>
              <a:rPr lang="el-GR" b="1">
                <a:solidFill>
                  <a:srgbClr val="EC7016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/ Encryption Mode 128-bit key </a:t>
            </a:r>
            <a:b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</a:br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Top :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Output (cipher_out16)</a:t>
            </a:r>
            <a:endParaRPr lang="el-GR"/>
          </a:p>
        </p:txBody>
      </p:sp>
      <p:pic>
        <p:nvPicPr>
          <p:cNvPr id="6" name="Θέση περιεχομένου 5" descr="Εικόνα που περιέχει στιγμιότυπο οθόνης, γραμμή, λογισμικό πολυμέσων, λογισμικό γραφικών">
            <a:extLst>
              <a:ext uri="{FF2B5EF4-FFF2-40B4-BE49-F238E27FC236}">
                <a16:creationId xmlns:a16="http://schemas.microsoft.com/office/drawing/2014/main" id="{6CDE5EDD-B12E-16F1-F08B-D622ED5DB1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2" y="2866739"/>
            <a:ext cx="10883519" cy="1550989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59546F4-CB01-9D33-1A89-5E1384A2F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2" y="5123879"/>
            <a:ext cx="8534906" cy="1423376"/>
          </a:xfrm>
        </p:spPr>
        <p:txBody>
          <a:bodyPr>
            <a:normAutofit lnSpcReduction="10000"/>
          </a:bodyPr>
          <a:lstStyle/>
          <a:p>
            <a:r>
              <a:rPr lang="el-GR">
                <a:solidFill>
                  <a:srgbClr val="F8931D"/>
                </a:solidFill>
              </a:rPr>
              <a:t>Στο παραπάνω </a:t>
            </a:r>
            <a:r>
              <a:rPr lang="en-US">
                <a:solidFill>
                  <a:srgbClr val="F8931D"/>
                </a:solidFill>
              </a:rPr>
              <a:t>testbench</a:t>
            </a:r>
            <a:r>
              <a:rPr lang="el-GR">
                <a:solidFill>
                  <a:srgbClr val="F8931D"/>
                </a:solidFill>
              </a:rPr>
              <a:t> με την ένδειξη του</a:t>
            </a:r>
            <a:r>
              <a:rPr lang="en-US">
                <a:solidFill>
                  <a:srgbClr val="F8931D"/>
                </a:solidFill>
              </a:rPr>
              <a:t> control signal</a:t>
            </a:r>
            <a:r>
              <a:rPr lang="el-GR">
                <a:solidFill>
                  <a:srgbClr val="F8931D"/>
                </a:solidFill>
              </a:rPr>
              <a:t> </a:t>
            </a:r>
            <a:r>
              <a:rPr lang="en-US">
                <a:solidFill>
                  <a:srgbClr val="F8931D"/>
                </a:solidFill>
              </a:rPr>
              <a:t>done, </a:t>
            </a:r>
            <a:r>
              <a:rPr lang="el-GR">
                <a:solidFill>
                  <a:srgbClr val="F8931D"/>
                </a:solidFill>
              </a:rPr>
              <a:t>αρχίζει η σειριακή εκφόρτωση της εξόδου ανά 16-</a:t>
            </a:r>
            <a:r>
              <a:rPr lang="en-US">
                <a:solidFill>
                  <a:srgbClr val="F8931D"/>
                </a:solidFill>
              </a:rPr>
              <a:t>bit</a:t>
            </a:r>
            <a:r>
              <a:rPr lang="el-GR">
                <a:solidFill>
                  <a:srgbClr val="F8931D"/>
                </a:solidFill>
              </a:rPr>
              <a:t> για την </a:t>
            </a:r>
            <a:r>
              <a:rPr lang="en-US">
                <a:solidFill>
                  <a:srgbClr val="F8931D"/>
                </a:solidFill>
              </a:rPr>
              <a:t>encryption </a:t>
            </a:r>
            <a:r>
              <a:rPr lang="el-GR">
                <a:solidFill>
                  <a:srgbClr val="F8931D"/>
                </a:solidFill>
              </a:rPr>
              <a:t>λειτουργία </a:t>
            </a:r>
            <a:r>
              <a:rPr lang="en-US">
                <a:solidFill>
                  <a:srgbClr val="F8931D"/>
                </a:solidFill>
              </a:rPr>
              <a:t>128</a:t>
            </a:r>
            <a:r>
              <a:rPr lang="el-GR">
                <a:solidFill>
                  <a:srgbClr val="F8931D"/>
                </a:solidFill>
              </a:rPr>
              <a:t>-</a:t>
            </a:r>
            <a:r>
              <a:rPr lang="en-US">
                <a:solidFill>
                  <a:srgbClr val="F8931D"/>
                </a:solidFill>
              </a:rPr>
              <a:t>bit key </a:t>
            </a:r>
            <a:r>
              <a:rPr lang="el-GR">
                <a:solidFill>
                  <a:srgbClr val="F8931D"/>
                </a:solidFill>
              </a:rPr>
              <a:t>του αλγορίθμου ενώ μόλις τελείωσει η διαδικασία του</a:t>
            </a:r>
            <a:r>
              <a:rPr lang="en-US">
                <a:solidFill>
                  <a:srgbClr val="F8931D"/>
                </a:solidFill>
              </a:rPr>
              <a:t> serial cipher out 16 bit </a:t>
            </a:r>
            <a:r>
              <a:rPr lang="el-GR">
                <a:solidFill>
                  <a:srgbClr val="F8931D"/>
                </a:solidFill>
              </a:rPr>
              <a:t>ενεργοποιείται  το </a:t>
            </a:r>
            <a:r>
              <a:rPr lang="en-US">
                <a:solidFill>
                  <a:srgbClr val="F8931D"/>
                </a:solidFill>
              </a:rPr>
              <a:t>decrypt </a:t>
            </a:r>
            <a:r>
              <a:rPr lang="el-GR">
                <a:solidFill>
                  <a:srgbClr val="F8931D"/>
                </a:solidFill>
              </a:rPr>
              <a:t>για την εφαρμογή του </a:t>
            </a:r>
            <a:r>
              <a:rPr lang="en-US">
                <a:solidFill>
                  <a:srgbClr val="F8931D"/>
                </a:solidFill>
              </a:rPr>
              <a:t>decryption-mode 128 bit </a:t>
            </a:r>
            <a:r>
              <a:rPr lang="el-GR">
                <a:solidFill>
                  <a:srgbClr val="F8931D"/>
                </a:solidFill>
              </a:rPr>
              <a:t>με είσοδο το συγκεκριμένο </a:t>
            </a:r>
            <a:r>
              <a:rPr lang="en-US">
                <a:solidFill>
                  <a:srgbClr val="F8931D"/>
                </a:solidFill>
              </a:rPr>
              <a:t>cipher text.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52127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FBAE776-2AFA-242E-7C2D-A9C5CE95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52" y="636895"/>
            <a:ext cx="8596668" cy="155098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: An Ultra-Lightweight Blockcipher</a:t>
            </a:r>
            <a:r>
              <a:rPr lang="el-GR" b="1">
                <a:solidFill>
                  <a:srgbClr val="EC7016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/ Decryption Mode 128-bit key </a:t>
            </a:r>
            <a:b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</a:br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Top : Inputs (data_in16,key_in16)</a:t>
            </a:r>
            <a:endParaRPr lang="el-GR"/>
          </a:p>
        </p:txBody>
      </p:sp>
      <p:pic>
        <p:nvPicPr>
          <p:cNvPr id="6" name="Θέση περιεχομένου 5" descr="Εικόνα που περιέχει στιγμιότυπο οθόνης, λογισμικό πολυμέσων, λογισμικό γραφικών, τρισδιάστατη μοντελοποίησ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50173F8-8072-E5B8-A257-A60570E282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52" y="2754741"/>
            <a:ext cx="11454996" cy="1594177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598A220-E699-CAFC-2BDA-21E903B92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8152" y="5106844"/>
            <a:ext cx="7792871" cy="1304992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CA08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Στο παραπάνω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testbench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με την ένδειξη του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control signal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start, 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παρουσιάζεται η σειριακή φόρτωση των εισόδων ανά 16-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bit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για την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decryption 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λειτουργία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128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-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bit key </a:t>
            </a: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του αλγορίθμου</a:t>
            </a: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385351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6EA8B3-E55F-D92A-FEA4-850899F15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55098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: An Ultra-Lightweight Blockcipher</a:t>
            </a:r>
            <a:r>
              <a:rPr lang="el-GR" b="1">
                <a:solidFill>
                  <a:srgbClr val="EC7016"/>
                </a:solidFill>
                <a:latin typeface="Arial" panose="020B0604020202020204" pitchFamily="34" charset="0"/>
              </a:rPr>
              <a:t> </a:t>
            </a:r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/ Decryption Mode 128-bit key </a:t>
            </a:r>
            <a:b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</a:br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Top : Output (cipher_out16)</a:t>
            </a:r>
            <a:endParaRPr lang="el-GR"/>
          </a:p>
        </p:txBody>
      </p:sp>
      <p:pic>
        <p:nvPicPr>
          <p:cNvPr id="6" name="Θέση περιεχομένου 5" descr="Εικόνα που περιέχει στιγμιότυπο οθόνης, λογισμικό πολυμέσων, λογισμικό γραφικών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7315F5A4-19E5-D1C1-EB4E-0392647009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958304"/>
            <a:ext cx="11189922" cy="1550989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4E997D7F-F6DC-396D-A61C-217B5B445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307009"/>
            <a:ext cx="8596668" cy="1550990"/>
          </a:xfrm>
        </p:spPr>
        <p:txBody>
          <a:bodyPr/>
          <a:lstStyle/>
          <a:p>
            <a:r>
              <a:rPr lang="el-GR">
                <a:solidFill>
                  <a:srgbClr val="F8931D"/>
                </a:solidFill>
              </a:rPr>
              <a:t>Διαπιστώνεται και πάλι η ορθή λειτουργία του </a:t>
            </a:r>
            <a:r>
              <a:rPr lang="en-US">
                <a:solidFill>
                  <a:srgbClr val="F8931D"/>
                </a:solidFill>
              </a:rPr>
              <a:t>decryption mode </a:t>
            </a:r>
            <a:r>
              <a:rPr lang="el-GR">
                <a:solidFill>
                  <a:srgbClr val="F8931D"/>
                </a:solidFill>
              </a:rPr>
              <a:t>128-</a:t>
            </a:r>
            <a:r>
              <a:rPr lang="en-US">
                <a:solidFill>
                  <a:srgbClr val="F8931D"/>
                </a:solidFill>
              </a:rPr>
              <a:t>bit key </a:t>
            </a:r>
            <a:r>
              <a:rPr lang="el-GR">
                <a:solidFill>
                  <a:srgbClr val="F8931D"/>
                </a:solidFill>
              </a:rPr>
              <a:t>καθώς με το </a:t>
            </a:r>
            <a:r>
              <a:rPr lang="en-US">
                <a:solidFill>
                  <a:srgbClr val="F8931D"/>
                </a:solidFill>
              </a:rPr>
              <a:t>control </a:t>
            </a:r>
            <a:r>
              <a:rPr lang="el-GR">
                <a:solidFill>
                  <a:srgbClr val="F8931D"/>
                </a:solidFill>
              </a:rPr>
              <a:t>του </a:t>
            </a:r>
            <a:r>
              <a:rPr lang="en-US">
                <a:solidFill>
                  <a:srgbClr val="F8931D"/>
                </a:solidFill>
              </a:rPr>
              <a:t>done </a:t>
            </a:r>
            <a:r>
              <a:rPr lang="el-GR">
                <a:solidFill>
                  <a:srgbClr val="F8931D"/>
                </a:solidFill>
              </a:rPr>
              <a:t>να είναι ενεργό εκφορτώνεται σειριακά η έξοδος </a:t>
            </a:r>
            <a:r>
              <a:rPr lang="en-US">
                <a:solidFill>
                  <a:srgbClr val="F8931D"/>
                </a:solidFill>
              </a:rPr>
              <a:t>cipher_out16 </a:t>
            </a:r>
            <a:r>
              <a:rPr lang="el-GR">
                <a:solidFill>
                  <a:srgbClr val="F8931D"/>
                </a:solidFill>
              </a:rPr>
              <a:t>στις αρχικές τιμές του </a:t>
            </a:r>
            <a:r>
              <a:rPr lang="en-US">
                <a:solidFill>
                  <a:srgbClr val="F8931D"/>
                </a:solidFill>
              </a:rPr>
              <a:t>plaintext.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176599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6F3A4FA-1FB2-6CE2-F371-079B2517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43" y="500418"/>
            <a:ext cx="9585782" cy="1320800"/>
          </a:xfrm>
        </p:spPr>
        <p:txBody>
          <a:bodyPr/>
          <a:lstStyle/>
          <a:p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: An Ultra-Lightweight Blockcipher : FSM SIGNALS </a:t>
            </a:r>
            <a:endParaRPr lang="el-GR"/>
          </a:p>
        </p:txBody>
      </p:sp>
      <p:pic>
        <p:nvPicPr>
          <p:cNvPr id="6" name="Θέση περιεχομένου 5" descr="Εικόνα που περιέχει κείμενο, στιγμιότυπο οθόνης, λογισμικό πολυμέσων, λογισμι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452814B-E9D9-6D35-EBB4-2AC9B4EE9D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3" y="2160590"/>
            <a:ext cx="11531913" cy="4492839"/>
          </a:xfrm>
        </p:spPr>
      </p:pic>
    </p:spTree>
    <p:extLst>
      <p:ext uri="{BB962C8B-B14F-4D97-AF65-F5344CB8AC3E}">
        <p14:creationId xmlns:p14="http://schemas.microsoft.com/office/powerpoint/2010/main" val="3281817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A36EDE6-BAC8-EB4E-4D90-423FEE56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: An Ultra-Lightweight Blockcipher : KS 80  SIGNALS </a:t>
            </a:r>
            <a:endParaRPr lang="el-GR"/>
          </a:p>
        </p:txBody>
      </p:sp>
      <p:pic>
        <p:nvPicPr>
          <p:cNvPr id="6" name="Θέση περιεχομένου 5" descr="Εικόνα που περιέχει κείμενο, στιγμιότυπο οθόνης, ηλεκτρονικές συσκευές, ηλεκτρονικός μηχανικ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26AA2E90-A1DE-B233-7E9D-D3C567940E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320119"/>
            <a:ext cx="11364141" cy="4126975"/>
          </a:xfrm>
        </p:spPr>
      </p:pic>
    </p:spTree>
    <p:extLst>
      <p:ext uri="{BB962C8B-B14F-4D97-AF65-F5344CB8AC3E}">
        <p14:creationId xmlns:p14="http://schemas.microsoft.com/office/powerpoint/2010/main" val="26163959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1F14145-D82B-55CE-1094-7D4073C66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C7016"/>
                </a:solidFill>
                <a:latin typeface="Arial" panose="020B0604020202020204" pitchFamily="34" charset="0"/>
              </a:rPr>
              <a:t>PICCOLO : An Ultra-Lightweight Blockcipher : KS 128  SIGNALS </a:t>
            </a:r>
            <a:endParaRPr lang="el-GR"/>
          </a:p>
        </p:txBody>
      </p:sp>
      <p:pic>
        <p:nvPicPr>
          <p:cNvPr id="6" name="Θέση περιεχομένου 5" descr="Εικόνα που περιέχει στιγμιότυπο οθόνης, κείμενο, λογισμικό πολυμέσων, Επεξεργασ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C79B32B-E0FA-0122-6259-FE9A4F1417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239326"/>
            <a:ext cx="10516743" cy="4284304"/>
          </a:xfrm>
        </p:spPr>
      </p:pic>
    </p:spTree>
    <p:extLst>
      <p:ext uri="{BB962C8B-B14F-4D97-AF65-F5344CB8AC3E}">
        <p14:creationId xmlns:p14="http://schemas.microsoft.com/office/powerpoint/2010/main" val="140158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91642-3F66-BFD0-B390-8F75BA45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12EA-1ED7-CA12-0508-BB5A51FC9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402080"/>
            <a:ext cx="7766936" cy="2648756"/>
          </a:xfrm>
        </p:spPr>
        <p:txBody>
          <a:bodyPr/>
          <a:lstStyle/>
          <a:p>
            <a:pPr algn="l"/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EC701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PICCOLO : An Ultra-Lightweight Blockcipher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EBFE5-6CFE-C447-9F35-30E06C2DC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611668"/>
            <a:ext cx="8600101" cy="1203916"/>
          </a:xfrm>
        </p:spPr>
        <p:txBody>
          <a:bodyPr>
            <a:normAutofit fontScale="25000" lnSpcReduction="20000"/>
          </a:bodyPr>
          <a:lstStyle/>
          <a:p>
            <a:pPr algn="ctr"/>
            <a:endParaRPr lang="en-US" sz="14800">
              <a:solidFill>
                <a:schemeClr val="accent4"/>
              </a:solidFill>
            </a:endParaRPr>
          </a:p>
          <a:p>
            <a:pPr algn="ctr"/>
            <a:r>
              <a:rPr lang="en-US" sz="14800">
                <a:solidFill>
                  <a:schemeClr val="accent4"/>
                </a:solidFill>
              </a:rPr>
              <a:t>XILINX VIVADO DESIGN SUITE</a:t>
            </a:r>
            <a:endParaRPr sz="14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647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0F78A15-37CA-867D-2691-6DA4010E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8531"/>
            <a:ext cx="8596668" cy="1550989"/>
          </a:xfrm>
        </p:spPr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accent4"/>
                </a:solidFill>
              </a:rPr>
              <a:t>RTL ANALYSIS</a:t>
            </a:r>
            <a:br>
              <a:rPr lang="en-US">
                <a:solidFill>
                  <a:schemeClr val="accent4"/>
                </a:solidFill>
              </a:rPr>
            </a:br>
            <a:r>
              <a:rPr lang="en-US" b="1" u="sng">
                <a:solidFill>
                  <a:schemeClr val="accent4"/>
                </a:solidFill>
              </a:rPr>
              <a:t>ELABORATED DESIGN SCHEMATIC</a:t>
            </a:r>
            <a:br>
              <a:rPr lang="en-US">
                <a:solidFill>
                  <a:schemeClr val="accent4"/>
                </a:solidFill>
              </a:rPr>
            </a:br>
            <a:r>
              <a:rPr lang="en-US" b="1" u="sng">
                <a:solidFill>
                  <a:schemeClr val="accent4"/>
                </a:solidFill>
              </a:rPr>
              <a:t>SYNTHESIS  </a:t>
            </a:r>
            <a:br>
              <a:rPr lang="en-US"/>
            </a:br>
            <a:br>
              <a:rPr lang="en-US"/>
            </a:br>
            <a:endParaRPr lang="el-GR">
              <a:solidFill>
                <a:schemeClr val="accent4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07565D7-4EFB-6B0F-7A83-860011E005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611"/>
          <a:stretch>
            <a:fillRect/>
          </a:stretch>
        </p:blipFill>
        <p:spPr bwMode="auto">
          <a:xfrm>
            <a:off x="677334" y="2461846"/>
            <a:ext cx="10795380" cy="364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7517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2FC9489-2EEE-0FC0-9DEF-3A4DA919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496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accent4"/>
                </a:solidFill>
              </a:rPr>
              <a:t>RTL ANALYSIS</a:t>
            </a:r>
            <a:br>
              <a:rPr lang="en-US">
                <a:solidFill>
                  <a:schemeClr val="accent4"/>
                </a:solidFill>
              </a:rPr>
            </a:br>
            <a:r>
              <a:rPr lang="en-US" b="1" u="sng">
                <a:solidFill>
                  <a:schemeClr val="accent4"/>
                </a:solidFill>
              </a:rPr>
              <a:t>ELABORATED DESIGN SCHEMATIC</a:t>
            </a:r>
            <a:br>
              <a:rPr lang="en-US">
                <a:solidFill>
                  <a:schemeClr val="accent4"/>
                </a:solidFill>
              </a:rPr>
            </a:br>
            <a:r>
              <a:rPr lang="en-US" b="1" u="sng">
                <a:solidFill>
                  <a:schemeClr val="accent4"/>
                </a:solidFill>
              </a:rPr>
              <a:t>SYNTHESIS 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20E24E8-DD45-FFE5-282E-E3178A33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Με βάση το </a:t>
            </a:r>
            <a:r>
              <a:rPr lang="en-US">
                <a:solidFill>
                  <a:schemeClr val="accent2"/>
                </a:solidFill>
              </a:rPr>
              <a:t>elaborated design </a:t>
            </a:r>
            <a:r>
              <a:rPr lang="el-GR">
                <a:solidFill>
                  <a:schemeClr val="accent2"/>
                </a:solidFill>
              </a:rPr>
              <a:t>τα βασικά δομικά </a:t>
            </a:r>
            <a:r>
              <a:rPr lang="en-US">
                <a:solidFill>
                  <a:schemeClr val="accent2"/>
                </a:solidFill>
              </a:rPr>
              <a:t>blocks </a:t>
            </a:r>
            <a:r>
              <a:rPr lang="el-GR">
                <a:solidFill>
                  <a:schemeClr val="accent2"/>
                </a:solidFill>
              </a:rPr>
              <a:t>είναι 6.</a:t>
            </a:r>
          </a:p>
          <a:p>
            <a:r>
              <a:rPr lang="el-GR">
                <a:solidFill>
                  <a:schemeClr val="accent2"/>
                </a:solidFill>
              </a:rPr>
              <a:t>Παρατηρούμε από αριστερά προς τα δεξια: την </a:t>
            </a:r>
            <a:r>
              <a:rPr lang="en-US">
                <a:solidFill>
                  <a:schemeClr val="accent2"/>
                </a:solidFill>
              </a:rPr>
              <a:t>FSM, </a:t>
            </a:r>
            <a:r>
              <a:rPr lang="el-GR">
                <a:solidFill>
                  <a:schemeClr val="accent2"/>
                </a:solidFill>
              </a:rPr>
              <a:t>τους δύο </a:t>
            </a:r>
            <a:r>
              <a:rPr lang="en-US">
                <a:solidFill>
                  <a:schemeClr val="accent2"/>
                </a:solidFill>
              </a:rPr>
              <a:t>key_schedulers </a:t>
            </a:r>
            <a:r>
              <a:rPr lang="el-GR">
                <a:solidFill>
                  <a:schemeClr val="accent2"/>
                </a:solidFill>
              </a:rPr>
              <a:t>οι οποίοι ελέγχονται από σήματα που βγαίνουν στην έξοδο αυτής.</a:t>
            </a:r>
          </a:p>
          <a:p>
            <a:r>
              <a:rPr lang="el-GR">
                <a:solidFill>
                  <a:schemeClr val="accent2"/>
                </a:solidFill>
              </a:rPr>
              <a:t>Σειρά από </a:t>
            </a:r>
            <a:r>
              <a:rPr lang="en-US">
                <a:solidFill>
                  <a:schemeClr val="accent2"/>
                </a:solidFill>
              </a:rPr>
              <a:t>muxes </a:t>
            </a:r>
            <a:r>
              <a:rPr lang="el-GR">
                <a:solidFill>
                  <a:schemeClr val="accent2"/>
                </a:solidFill>
              </a:rPr>
              <a:t>οι οποίοι επιλέγουν ποια κλειδιά θα χρησιμοποιηθούν.</a:t>
            </a:r>
          </a:p>
          <a:p>
            <a:r>
              <a:rPr lang="el-GR">
                <a:solidFill>
                  <a:schemeClr val="accent2"/>
                </a:solidFill>
              </a:rPr>
              <a:t>Τα </a:t>
            </a:r>
            <a:r>
              <a:rPr lang="en-US">
                <a:solidFill>
                  <a:schemeClr val="accent2"/>
                </a:solidFill>
              </a:rPr>
              <a:t>blocks </a:t>
            </a:r>
            <a:r>
              <a:rPr lang="el-GR">
                <a:solidFill>
                  <a:schemeClr val="accent2"/>
                </a:solidFill>
              </a:rPr>
              <a:t>που υλοποιούν τα στάδια </a:t>
            </a:r>
            <a:r>
              <a:rPr lang="en-US">
                <a:solidFill>
                  <a:schemeClr val="accent2"/>
                </a:solidFill>
              </a:rPr>
              <a:t>first_round,iterative_round </a:t>
            </a:r>
            <a:r>
              <a:rPr lang="el-GR">
                <a:solidFill>
                  <a:schemeClr val="accent2"/>
                </a:solidFill>
              </a:rPr>
              <a:t>και </a:t>
            </a:r>
            <a:r>
              <a:rPr lang="en-US">
                <a:solidFill>
                  <a:schemeClr val="accent2"/>
                </a:solidFill>
              </a:rPr>
              <a:t>last_round</a:t>
            </a:r>
            <a:r>
              <a:rPr lang="el-GR">
                <a:solidFill>
                  <a:schemeClr val="accent2"/>
                </a:solidFill>
              </a:rPr>
              <a:t>.</a:t>
            </a:r>
          </a:p>
          <a:p>
            <a:r>
              <a:rPr lang="el-GR">
                <a:solidFill>
                  <a:schemeClr val="accent2"/>
                </a:solidFill>
              </a:rPr>
              <a:t>Δύο πολυπλέκτες οι οποίοι ο πάνω ελέγχει αν θα ξαναμπεί στο </a:t>
            </a:r>
            <a:r>
              <a:rPr lang="en-US">
                <a:solidFill>
                  <a:schemeClr val="accent2"/>
                </a:solidFill>
              </a:rPr>
              <a:t>iterative </a:t>
            </a:r>
            <a:r>
              <a:rPr lang="el-GR">
                <a:solidFill>
                  <a:schemeClr val="accent2"/>
                </a:solidFill>
              </a:rPr>
              <a:t>στάδιο και ο κάτω ελέγχει ποια κλειδιά θα χρησιμοποιηθούν στο τελευταιο σταδιο.</a:t>
            </a:r>
          </a:p>
          <a:p>
            <a:r>
              <a:rPr lang="el-GR">
                <a:solidFill>
                  <a:schemeClr val="accent2"/>
                </a:solidFill>
              </a:rPr>
              <a:t>Τέλος η λογική που βγάζει σειριακά την έξοδο και αποτελείται από </a:t>
            </a:r>
            <a:r>
              <a:rPr lang="en-US">
                <a:solidFill>
                  <a:schemeClr val="accent2"/>
                </a:solidFill>
              </a:rPr>
              <a:t>muxes , </a:t>
            </a:r>
            <a:r>
              <a:rPr lang="el-GR">
                <a:solidFill>
                  <a:schemeClr val="accent2"/>
                </a:solidFill>
              </a:rPr>
              <a:t>έναν </a:t>
            </a:r>
            <a:r>
              <a:rPr lang="en-US">
                <a:solidFill>
                  <a:schemeClr val="accent2"/>
                </a:solidFill>
              </a:rPr>
              <a:t>adder </a:t>
            </a:r>
            <a:r>
              <a:rPr lang="el-GR">
                <a:solidFill>
                  <a:schemeClr val="accent2"/>
                </a:solidFill>
              </a:rPr>
              <a:t>και καταχωρητές στην έξοδο. </a:t>
            </a:r>
          </a:p>
        </p:txBody>
      </p:sp>
    </p:spTree>
    <p:extLst>
      <p:ext uri="{BB962C8B-B14F-4D97-AF65-F5344CB8AC3E}">
        <p14:creationId xmlns:p14="http://schemas.microsoft.com/office/powerpoint/2010/main" val="9007739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0FAB85F-82C3-FCBB-E801-371AF823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accent4"/>
                </a:solidFill>
              </a:rPr>
              <a:t>SYNTHESIS SCHEMATIC</a:t>
            </a:r>
            <a:br>
              <a:rPr lang="en-US"/>
            </a:br>
            <a:br>
              <a:rPr lang="en-US"/>
            </a:br>
            <a:endParaRPr lang="el-GR">
              <a:solidFill>
                <a:schemeClr val="accent4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0DA391C-868B-8BB6-C01F-9511D3FBF8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154" y="1583516"/>
            <a:ext cx="7163847" cy="4458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5238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915F94-FEFF-F8AF-8F98-934D4E80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6131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accent4"/>
                </a:solidFill>
              </a:rPr>
              <a:t>IMPLEMENTATION SCHEMATIC</a:t>
            </a:r>
            <a:br>
              <a:rPr lang="en-US"/>
            </a:br>
            <a:br>
              <a:rPr lang="en-US"/>
            </a:br>
            <a:endParaRPr lang="el-GR">
              <a:solidFill>
                <a:schemeClr val="accent4"/>
              </a:solidFill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4DBA101-6A83-5E99-71CE-5EA9EBC4C5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"/>
          <a:stretch>
            <a:fillRect/>
          </a:stretch>
        </p:blipFill>
        <p:spPr bwMode="auto">
          <a:xfrm>
            <a:off x="677334" y="1566199"/>
            <a:ext cx="7737231" cy="502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5610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D951778-33D4-F971-5962-1889EC2D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0" y="324717"/>
            <a:ext cx="8596668" cy="1320800"/>
          </a:xfrm>
        </p:spPr>
        <p:txBody>
          <a:bodyPr/>
          <a:lstStyle/>
          <a:p>
            <a:r>
              <a:rPr lang="en-US" b="1" u="sng">
                <a:solidFill>
                  <a:schemeClr val="accent4"/>
                </a:solidFill>
              </a:rPr>
              <a:t>Report Timing Summary</a:t>
            </a:r>
            <a:endParaRPr lang="el-GR">
              <a:solidFill>
                <a:schemeClr val="accent4"/>
              </a:solidFill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3604C691-86BB-2794-1775-1585B04C6A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70" y="1976180"/>
            <a:ext cx="8596312" cy="205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102947-A1A1-AA55-3CCD-296AA53441BD}"/>
              </a:ext>
            </a:extLst>
          </p:cNvPr>
          <p:cNvSpPr txBox="1"/>
          <p:nvPr/>
        </p:nvSpPr>
        <p:spPr>
          <a:xfrm>
            <a:off x="883476" y="4788310"/>
            <a:ext cx="5949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2"/>
                </a:solidFill>
              </a:rPr>
              <a:t>Παρατηρούμε </a:t>
            </a:r>
            <a:r>
              <a:rPr lang="en-US">
                <a:solidFill>
                  <a:schemeClr val="accent2"/>
                </a:solidFill>
              </a:rPr>
              <a:t>slack 0.237 ns  </a:t>
            </a:r>
            <a:r>
              <a:rPr lang="el-GR">
                <a:solidFill>
                  <a:schemeClr val="accent2"/>
                </a:solidFill>
              </a:rPr>
              <a:t>με </a:t>
            </a:r>
            <a:r>
              <a:rPr lang="en-US">
                <a:solidFill>
                  <a:schemeClr val="accent2"/>
                </a:solidFill>
              </a:rPr>
              <a:t>Tclock=6.7 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2"/>
                </a:solidFill>
              </a:rPr>
              <a:t>0 endpoints </a:t>
            </a:r>
            <a:r>
              <a:rPr lang="el-GR">
                <a:solidFill>
                  <a:schemeClr val="accent2"/>
                </a:solidFill>
              </a:rPr>
              <a:t>τα οποία έχουν </a:t>
            </a:r>
            <a:r>
              <a:rPr lang="en-US">
                <a:solidFill>
                  <a:schemeClr val="accent2"/>
                </a:solidFill>
              </a:rPr>
              <a:t>setup violation</a:t>
            </a:r>
            <a:endParaRPr lang="el-G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052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6DFCB20-77AB-4955-33C7-7CBFFED72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accent4"/>
                </a:solidFill>
              </a:rPr>
              <a:t>INTRA CLOCK PATHS-SETUP DELAY</a:t>
            </a:r>
            <a:br>
              <a:rPr lang="en-US"/>
            </a:br>
            <a:br>
              <a:rPr lang="en-US"/>
            </a:b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88DCCF1-DF49-319D-E0C1-643C1891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12" y="2160587"/>
            <a:ext cx="8596668" cy="3880773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Setup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>
                <a:solidFill>
                  <a:schemeClr val="accent2"/>
                </a:solidFill>
              </a:rPr>
              <a:t>Hold</a:t>
            </a:r>
            <a:r>
              <a:rPr lang="en-US"/>
              <a:t> </a:t>
            </a:r>
          </a:p>
          <a:p>
            <a:endParaRPr lang="el-GR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DA47566E-D114-6A4F-2C65-275A145E4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160587"/>
            <a:ext cx="8392071" cy="140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48374DE2-F41F-47A9-8DE4-0F41F2B6B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558" y="3992922"/>
            <a:ext cx="8392071" cy="16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59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9137AE3-135D-7B68-EBB2-942EF265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accent4"/>
                </a:solidFill>
              </a:rPr>
              <a:t>Critical Path </a:t>
            </a:r>
            <a:br>
              <a:rPr lang="en-US"/>
            </a:br>
            <a:br>
              <a:rPr lang="en-US"/>
            </a:br>
            <a:endParaRPr lang="el-GR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B77F188-51BD-1AB8-FE90-90F5DB532E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338" y="1930400"/>
            <a:ext cx="7599563" cy="4420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098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7C4864E-D407-2550-75E8-7F81F868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4"/>
                </a:solidFill>
              </a:rPr>
              <a:t>Report_Power</a:t>
            </a:r>
            <a:endParaRPr lang="el-GR">
              <a:solidFill>
                <a:schemeClr val="accent4"/>
              </a:solidFill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4A288BA9-F30D-3C27-BDD4-10C23DF9F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930400"/>
            <a:ext cx="6443660" cy="360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3142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C2A9D81-D769-1798-7ECA-2C77A036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Report Utilization-Hierarchy</a:t>
            </a:r>
            <a:endParaRPr lang="el-GR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30668D0-4292-E6B3-D06C-9A0CD0BE3B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3022666"/>
            <a:ext cx="8596312" cy="215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0010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6BBFE7C-0AD4-7E7C-7430-2F6A5282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accent4"/>
                </a:solidFill>
              </a:rPr>
              <a:t>Report Utilization-Summary</a:t>
            </a:r>
            <a:br>
              <a:rPr lang="en-US"/>
            </a:br>
            <a:br>
              <a:rPr lang="en-US"/>
            </a:br>
            <a:endParaRPr lang="el-GR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7A1BEEAF-2868-BA50-0EB8-1E5FFD6356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2201173"/>
            <a:ext cx="6410325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1670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50DCB95-1954-5503-3B1F-03DC797C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95" y="1727200"/>
            <a:ext cx="8596668" cy="3403600"/>
          </a:xfrm>
        </p:spPr>
        <p:txBody>
          <a:bodyPr/>
          <a:lstStyle/>
          <a:p>
            <a:r>
              <a:rPr lang="el-GR" dirty="0"/>
              <a:t>Ευχαριστούμε για την προσοχή σας</a:t>
            </a:r>
          </a:p>
        </p:txBody>
      </p:sp>
    </p:spTree>
    <p:extLst>
      <p:ext uri="{BB962C8B-B14F-4D97-AF65-F5344CB8AC3E}">
        <p14:creationId xmlns:p14="http://schemas.microsoft.com/office/powerpoint/2010/main" val="473948989"/>
      </p:ext>
    </p:extLst>
  </p:cSld>
  <p:clrMapOvr>
    <a:masterClrMapping/>
  </p:clrMapOvr>
</p:sld>
</file>

<file path=ppt/theme/theme1.xml><?xml version="1.0" encoding="utf-8"?>
<a:theme xmlns:a="http://schemas.openxmlformats.org/drawingml/2006/main" name="Όψη">
  <a:themeElements>
    <a:clrScheme name="Κίτρινο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2197</Words>
  <Application>Microsoft Office PowerPoint</Application>
  <PresentationFormat>Ευρεία οθόνη</PresentationFormat>
  <Paragraphs>188</Paragraphs>
  <Slides>56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56</vt:i4>
      </vt:variant>
    </vt:vector>
  </HeadingPairs>
  <TitlesOfParts>
    <vt:vector size="62" baseType="lpstr">
      <vt:lpstr>Aptos</vt:lpstr>
      <vt:lpstr>Arial</vt:lpstr>
      <vt:lpstr>Trebuchet MS</vt:lpstr>
      <vt:lpstr>Wingdings</vt:lpstr>
      <vt:lpstr>Wingdings 3</vt:lpstr>
      <vt:lpstr>Όψη</vt:lpstr>
      <vt:lpstr>Σχεδιασμός Ολοκληρωμένων Συστημάτων VLSI-III  ΟΜΑΔΙΚΟ PROJECT  PICCOLO : An Ultra-Lightweight Blockcipher     </vt:lpstr>
      <vt:lpstr>PICCOLO : An Ultra-Lightweight Blockcipher</vt:lpstr>
      <vt:lpstr>PICCOLO : An Ultra-Lightweight Blockcipher</vt:lpstr>
      <vt:lpstr>PICCOLO : An Ultra-Lightweight Blockcipher (Γενικά Χαρακτηριστικά)</vt:lpstr>
      <vt:lpstr>PICCOLO : An Ultra-Lightweight Blockcipher (Τμήμα Επεξεργασίας Δεδομένων)</vt:lpstr>
      <vt:lpstr>PICCOLO : An Ultra-Lightweight Blockcipher : Αρχιτεκτονική Σχεδίαση της Encryption function Gr</vt:lpstr>
      <vt:lpstr>PICCOLO : An Ultra-Lightweight Blockcipher (Τμήμα Επεξεργασίας Δεδομένων)(συνέχεια)</vt:lpstr>
      <vt:lpstr>PICCOLO : An Ultra-Lightweight Blockcipher (Διαδικασία Αποκρυπτογράφησης)</vt:lpstr>
      <vt:lpstr>PICCOLO : An Ultra-Lightweight Blockcipher : Αρχιτεκτονική Σχεδίαση της  Decryption function  Gr ̄ ¹ ( Reversed λειτουργία Στοιχείων )</vt:lpstr>
      <vt:lpstr>PICCOLO : An Ultra-Lightweight Blockcipher ( F function , S_boxes )</vt:lpstr>
      <vt:lpstr>PICCOLO : An Ultra-Lightweight Blockcipher ( F function , S_boxes )</vt:lpstr>
      <vt:lpstr>PICCOLO : An Ultra-Lightweight Blockcipher ( Key_Scheduling_Part )</vt:lpstr>
      <vt:lpstr>Key_Scheduler_80(KS80_r)</vt:lpstr>
      <vt:lpstr>Key_Scheduler_128(KS128_r)</vt:lpstr>
      <vt:lpstr>Πλεονεκτήματα Piccolo</vt:lpstr>
      <vt:lpstr>PICCOLO : An Ultra-Lightweight Blockcipher</vt:lpstr>
      <vt:lpstr>PICCOLO : An Ultra-Lightweight Blockcipher  ( Αρχιτεκτονικό Σχεδιάγραμμα )</vt:lpstr>
      <vt:lpstr>PICCOLO_TOP.vhd</vt:lpstr>
      <vt:lpstr>PICCOLO_TOP.vhd(συνέχεια)</vt:lpstr>
      <vt:lpstr>FSM.vhd </vt:lpstr>
      <vt:lpstr>FSM.vhd</vt:lpstr>
      <vt:lpstr>KEY_SCHEDULER_80.vhd</vt:lpstr>
      <vt:lpstr>KEY_SCHEDULER_128.vhd</vt:lpstr>
      <vt:lpstr>KEY_SCHEDULER_128.vhd</vt:lpstr>
      <vt:lpstr>FIRST_ROUND.vhd</vt:lpstr>
      <vt:lpstr>ITERATIVE_ROUND.vhd</vt:lpstr>
      <vt:lpstr>LAST_ROUND.vhd</vt:lpstr>
      <vt:lpstr>FUNCTION_F.vhd </vt:lpstr>
      <vt:lpstr>SBOX_4BIT.vhd</vt:lpstr>
      <vt:lpstr>RP.vhd</vt:lpstr>
      <vt:lpstr>PICCOLO_TOP_TB.vhd</vt:lpstr>
      <vt:lpstr>PICCOLO_TOP_TB.vhd</vt:lpstr>
      <vt:lpstr>PICCOLO : An Ultra-Lightweight Blockcipher</vt:lpstr>
      <vt:lpstr>PICCOLO : An Ultra-Lightweight Blockcipher / Encryption Mode 80-bit key  Piccolo Top : Inputs (data_in16,key_in16)</vt:lpstr>
      <vt:lpstr>PICCOLO : An Ultra-Lightweight Blockcipher / Encryption Mode 80-bit key  Piccolo Top : Output (cipher_out16)</vt:lpstr>
      <vt:lpstr>PICCOLO : An Ultra-Lightweight Blockcipher / Decryption Mode 80-bit key  Piccolo Top : Inputs (data_in16,key_in16)</vt:lpstr>
      <vt:lpstr>PICCOLO : An Ultra-Lightweight Blockcipher / Decryption Mode 80-bit key  Piccolo Top : Output (cipher_out16)</vt:lpstr>
      <vt:lpstr>PICCOLO : An Ultra-Lightweight Blockcipher / Encryption Mode 128-bit key  Piccolo Top : Inputs (data_in16,key_in16)</vt:lpstr>
      <vt:lpstr>PICCOLO : An Ultra-Lightweight Blockcipher / Encryption Mode 128-bit key  Piccolo Top : Output (cipher_out16)</vt:lpstr>
      <vt:lpstr>PICCOLO : An Ultra-Lightweight Blockcipher / Decryption Mode 128-bit key  Piccolo Top : Inputs (data_in16,key_in16)</vt:lpstr>
      <vt:lpstr>PICCOLO : An Ultra-Lightweight Blockcipher / Decryption Mode 128-bit key  Piccolo Top : Output (cipher_out16)</vt:lpstr>
      <vt:lpstr>PICCOLO : An Ultra-Lightweight Blockcipher : FSM SIGNALS </vt:lpstr>
      <vt:lpstr>PICCOLO : An Ultra-Lightweight Blockcipher : KS 80  SIGNALS </vt:lpstr>
      <vt:lpstr>PICCOLO : An Ultra-Lightweight Blockcipher : KS 128  SIGNALS </vt:lpstr>
      <vt:lpstr>PICCOLO : An Ultra-Lightweight Blockcipher</vt:lpstr>
      <vt:lpstr>RTL ANALYSIS ELABORATED DESIGN SCHEMATIC SYNTHESIS    </vt:lpstr>
      <vt:lpstr>RTL ANALYSIS ELABORATED DESIGN SCHEMATIC SYNTHESIS </vt:lpstr>
      <vt:lpstr>SYNTHESIS SCHEMATIC  </vt:lpstr>
      <vt:lpstr>IMPLEMENTATION SCHEMATIC  </vt:lpstr>
      <vt:lpstr>Report Timing Summary</vt:lpstr>
      <vt:lpstr>INTRA CLOCK PATHS-SETUP DELAY  </vt:lpstr>
      <vt:lpstr>Critical Path   </vt:lpstr>
      <vt:lpstr>Report_Power</vt:lpstr>
      <vt:lpstr>Report Utilization-Hierarchy</vt:lpstr>
      <vt:lpstr>Report Utilization-Summary  </vt:lpstr>
      <vt:lpstr>Ευχαριστούμε για την προσοχή σας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ΑΝΑΣΤΟΠΟΥΛΟΣ ΑΠΟΛΛΩΝ-ΑΛΕΞΑΝΔΡΟΣ</dc:creator>
  <cp:lastModifiedBy>ΔΙΚΑΡΟΣ ΕΥΑΓΓΕΛΟΣ</cp:lastModifiedBy>
  <cp:revision>67</cp:revision>
  <dcterms:created xsi:type="dcterms:W3CDTF">2025-07-07T13:52:27Z</dcterms:created>
  <dcterms:modified xsi:type="dcterms:W3CDTF">2026-02-26T08:41:25Z</dcterms:modified>
</cp:coreProperties>
</file>